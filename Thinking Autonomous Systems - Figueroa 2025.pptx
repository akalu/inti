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350" r:id="rId3"/>
    <p:sldId id="351" r:id="rId4"/>
    <p:sldId id="352" r:id="rId5"/>
    <p:sldId id="338" r:id="rId6"/>
    <p:sldId id="333" r:id="rId7"/>
    <p:sldId id="332" r:id="rId8"/>
    <p:sldId id="334" r:id="rId9"/>
    <p:sldId id="349" r:id="rId10"/>
    <p:sldId id="335" r:id="rId11"/>
    <p:sldId id="267" r:id="rId12"/>
    <p:sldId id="268" r:id="rId13"/>
    <p:sldId id="336" r:id="rId14"/>
    <p:sldId id="341" r:id="rId15"/>
    <p:sldId id="340" r:id="rId16"/>
    <p:sldId id="354" r:id="rId17"/>
    <p:sldId id="259" r:id="rId18"/>
    <p:sldId id="260" r:id="rId19"/>
    <p:sldId id="261" r:id="rId20"/>
    <p:sldId id="262" r:id="rId21"/>
    <p:sldId id="263" r:id="rId22"/>
    <p:sldId id="264" r:id="rId23"/>
    <p:sldId id="265" r:id="rId24"/>
    <p:sldId id="266"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9" r:id="rId64"/>
    <p:sldId id="308" r:id="rId65"/>
    <p:sldId id="310" r:id="rId66"/>
    <p:sldId id="311" r:id="rId67"/>
    <p:sldId id="313" r:id="rId68"/>
    <p:sldId id="314" r:id="rId69"/>
    <p:sldId id="315" r:id="rId70"/>
    <p:sldId id="316" r:id="rId71"/>
    <p:sldId id="317" r:id="rId72"/>
    <p:sldId id="319" r:id="rId73"/>
    <p:sldId id="320" r:id="rId74"/>
    <p:sldId id="321" r:id="rId75"/>
    <p:sldId id="322" r:id="rId76"/>
    <p:sldId id="323" r:id="rId77"/>
    <p:sldId id="324" r:id="rId78"/>
    <p:sldId id="325" r:id="rId79"/>
    <p:sldId id="326" r:id="rId80"/>
    <p:sldId id="327" r:id="rId81"/>
    <p:sldId id="328" r:id="rId82"/>
    <p:sldId id="290" r:id="rId83"/>
    <p:sldId id="312" r:id="rId84"/>
    <p:sldId id="318" r:id="rId85"/>
    <p:sldId id="329" r:id="rId86"/>
    <p:sldId id="330" r:id="rId87"/>
    <p:sldId id="331"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9" autoAdjust="0"/>
    <p:restoredTop sz="94660"/>
  </p:normalViewPr>
  <p:slideViewPr>
    <p:cSldViewPr snapToGrid="0">
      <p:cViewPr varScale="1">
        <p:scale>
          <a:sx n="64" d="100"/>
          <a:sy n="64" d="100"/>
        </p:scale>
        <p:origin x="10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7FB3A-AE35-432B-99F1-6D5C882EC405}" type="datetimeFigureOut">
              <a:rPr lang="en-US" smtClean="0"/>
              <a:t>3/10/2025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236FE4-74C0-4A35-8C5D-4438D5D79D36}" type="slidenum">
              <a:rPr lang="en-US" smtClean="0"/>
              <a:t>‹#›</a:t>
            </a:fld>
            <a:endParaRPr lang="en-US"/>
          </a:p>
        </p:txBody>
      </p:sp>
    </p:spTree>
    <p:extLst>
      <p:ext uri="{BB962C8B-B14F-4D97-AF65-F5344CB8AC3E}">
        <p14:creationId xmlns:p14="http://schemas.microsoft.com/office/powerpoint/2010/main" val="1139617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236FE4-74C0-4A35-8C5D-4438D5D79D36}" type="slidenum">
              <a:rPr lang="en-US" smtClean="0"/>
              <a:t>18</a:t>
            </a:fld>
            <a:endParaRPr lang="en-US"/>
          </a:p>
        </p:txBody>
      </p:sp>
    </p:spTree>
    <p:extLst>
      <p:ext uri="{BB962C8B-B14F-4D97-AF65-F5344CB8AC3E}">
        <p14:creationId xmlns:p14="http://schemas.microsoft.com/office/powerpoint/2010/main" val="644040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0C9C4D9-B10A-4C20-A979-8DCEA5D21DB9}" type="datetime1">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78707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EC4604-D700-4F5E-ABE1-1AB5A3CD897C}" type="datetime1">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103308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C12613-67F7-40A2-95BA-F9D88047DCF6}" type="datetime1">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4585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CAA62F-76E3-494F-A8E4-D59856FCD456}" type="datetime1">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626735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C97511-1BB0-4407-8547-775FAA004EF7}" type="datetime1">
              <a:rPr lang="en-US" smtClean="0"/>
              <a:t>3/10/2025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1933705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2CC4F0-D880-4C6F-B9FF-39EC1BFACAD5}" type="datetime1">
              <a:rPr lang="en-US" smtClean="0"/>
              <a:t>3/10/2025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2252401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76922C-6076-4517-91BB-3137BB95E5A6}" type="datetime1">
              <a:rPr lang="en-US" smtClean="0"/>
              <a:t>3/10/2025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1726803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5DAEE8-CCD6-40AC-B853-AC03666C7561}" type="datetime1">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1206924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BB8711-EF74-4F32-A0E3-5ADE0631FB96}" type="datetime1">
              <a:rPr lang="en-US" smtClean="0"/>
              <a:t>3/10/2025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1774210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335897-2E5A-45A2-8BB1-CA284940F166}" type="datetime1">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4286421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A2AA40-78DA-41BB-976D-7A23EABA9FBA}" type="datetime1">
              <a:rPr lang="en-US" smtClean="0"/>
              <a:t>3/10/2025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67D5B8-E44A-4D0F-96C7-902652BCFAA0}" type="slidenum">
              <a:rPr lang="en-US" smtClean="0"/>
              <a:t>‹#›</a:t>
            </a:fld>
            <a:endParaRPr lang="en-US"/>
          </a:p>
        </p:txBody>
      </p:sp>
    </p:spTree>
    <p:extLst>
      <p:ext uri="{BB962C8B-B14F-4D97-AF65-F5344CB8AC3E}">
        <p14:creationId xmlns:p14="http://schemas.microsoft.com/office/powerpoint/2010/main" val="3281720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6709C0-4EAE-4905-906A-31C934A236D4}" type="datetime1">
              <a:rPr lang="en-US" smtClean="0"/>
              <a:t>3/10/2025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67D5B8-E44A-4D0F-96C7-902652BCFAA0}" type="slidenum">
              <a:rPr lang="en-US" smtClean="0"/>
              <a:t>‹#›</a:t>
            </a:fld>
            <a:endParaRPr lang="en-US"/>
          </a:p>
        </p:txBody>
      </p:sp>
    </p:spTree>
    <p:extLst>
      <p:ext uri="{BB962C8B-B14F-4D97-AF65-F5344CB8AC3E}">
        <p14:creationId xmlns:p14="http://schemas.microsoft.com/office/powerpoint/2010/main" val="437699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hyperlink" Target="https://www.merriam-webster.com/dictionary/thin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standards.nasa.gov/NASA-Technical-Standard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techport.nasa.gov/projects/94884" TargetMode="External"/><Relationship Id="rId2" Type="http://schemas.openxmlformats.org/officeDocument/2006/relationships/hyperlink" Target="https://www.nasa.gov/centers/ames/engineering/techedsa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Thinking Autonomous Systems</a:t>
            </a:r>
          </a:p>
        </p:txBody>
      </p:sp>
      <p:sp>
        <p:nvSpPr>
          <p:cNvPr id="3" name="Subtitle 2"/>
          <p:cNvSpPr>
            <a:spLocks noGrp="1"/>
          </p:cNvSpPr>
          <p:nvPr>
            <p:ph type="subTitle" idx="1"/>
          </p:nvPr>
        </p:nvSpPr>
        <p:spPr>
          <a:xfrm>
            <a:off x="1524000" y="3602037"/>
            <a:ext cx="9144000" cy="2627313"/>
          </a:xfrm>
        </p:spPr>
        <p:txBody>
          <a:bodyPr>
            <a:normAutofit fontScale="77500" lnSpcReduction="20000"/>
          </a:bodyPr>
          <a:lstStyle/>
          <a:p>
            <a:r>
              <a:rPr lang="en-US" dirty="0"/>
              <a:t>Fernando Figueroa </a:t>
            </a:r>
            <a:r>
              <a:rPr lang="en-US" dirty="0" err="1"/>
              <a:t>Núñez</a:t>
            </a:r>
            <a:r>
              <a:rPr lang="en-US" dirty="0"/>
              <a:t> del Prado, Ph.D.</a:t>
            </a:r>
          </a:p>
          <a:p>
            <a:r>
              <a:rPr lang="en-US" dirty="0"/>
              <a:t>Current Employment: NASA Stennis Space Center, USA</a:t>
            </a:r>
          </a:p>
          <a:p>
            <a:r>
              <a:rPr lang="en-US" dirty="0"/>
              <a:t>Autonomous Systems Laboratory</a:t>
            </a:r>
          </a:p>
          <a:p>
            <a:endParaRPr lang="en-US" dirty="0"/>
          </a:p>
          <a:p>
            <a:r>
              <a:rPr lang="es-PE" dirty="0"/>
              <a:t>UTEC</a:t>
            </a:r>
          </a:p>
          <a:p>
            <a:r>
              <a:rPr lang="es-PE" dirty="0"/>
              <a:t>Universidad de Ingeniería y Tecnología, Lima, Perú</a:t>
            </a:r>
            <a:endParaRPr lang="en-US" dirty="0"/>
          </a:p>
          <a:p>
            <a:r>
              <a:rPr lang="es-PE" dirty="0"/>
              <a:t>Global </a:t>
            </a:r>
            <a:r>
              <a:rPr lang="es-PE" dirty="0" err="1"/>
              <a:t>Academy</a:t>
            </a:r>
            <a:r>
              <a:rPr lang="es-PE" dirty="0"/>
              <a:t> 2025-1</a:t>
            </a:r>
          </a:p>
          <a:p>
            <a:r>
              <a:rPr lang="es-PE" dirty="0"/>
              <a:t>March 10-22, 2025</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1</a:t>
            </a:fld>
            <a:endParaRPr lang="en-US"/>
          </a:p>
        </p:txBody>
      </p:sp>
    </p:spTree>
    <p:extLst>
      <p:ext uri="{BB962C8B-B14F-4D97-AF65-F5344CB8AC3E}">
        <p14:creationId xmlns:p14="http://schemas.microsoft.com/office/powerpoint/2010/main" val="53764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917F-CBB2-68E2-52B6-78FA520ED680}"/>
            </a:ext>
          </a:extLst>
        </p:cNvPr>
        <p:cNvGrpSpPr/>
        <p:nvPr/>
      </p:nvGrpSpPr>
      <p:grpSpPr>
        <a:xfrm>
          <a:off x="0" y="0"/>
          <a:ext cx="0" cy="0"/>
          <a:chOff x="0" y="0"/>
          <a:chExt cx="0" cy="0"/>
        </a:xfrm>
      </p:grpSpPr>
      <p:sp>
        <p:nvSpPr>
          <p:cNvPr id="7170" name="Title 1">
            <a:extLst>
              <a:ext uri="{FF2B5EF4-FFF2-40B4-BE49-F238E27FC236}">
                <a16:creationId xmlns:a16="http://schemas.microsoft.com/office/drawing/2014/main" id="{806BC162-1147-171F-8875-9F6A9BE646DE}"/>
              </a:ext>
            </a:extLst>
          </p:cNvPr>
          <p:cNvSpPr>
            <a:spLocks noGrp="1"/>
          </p:cNvSpPr>
          <p:nvPr>
            <p:ph type="title" idx="4294967295"/>
          </p:nvPr>
        </p:nvSpPr>
        <p:spPr>
          <a:xfrm>
            <a:off x="2422525" y="14288"/>
            <a:ext cx="7886700" cy="995362"/>
          </a:xfrm>
        </p:spPr>
        <p:txBody>
          <a:bodyPr>
            <a:normAutofit fontScale="90000"/>
          </a:bodyPr>
          <a:lstStyle/>
          <a:p>
            <a:r>
              <a:rPr lang="en-US" altLang="en-US"/>
              <a:t>Brief Personal and Professional Biography</a:t>
            </a:r>
          </a:p>
        </p:txBody>
      </p:sp>
      <p:pic>
        <p:nvPicPr>
          <p:cNvPr id="7172" name="Picture 3">
            <a:extLst>
              <a:ext uri="{FF2B5EF4-FFF2-40B4-BE49-F238E27FC236}">
                <a16:creationId xmlns:a16="http://schemas.microsoft.com/office/drawing/2014/main" id="{A7994C22-EAA2-5236-F57A-8FF9E13D0D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1144" y="1624013"/>
            <a:ext cx="2641600" cy="180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4">
            <a:extLst>
              <a:ext uri="{FF2B5EF4-FFF2-40B4-BE49-F238E27FC236}">
                <a16:creationId xmlns:a16="http://schemas.microsoft.com/office/drawing/2014/main" id="{F777C449-FE0A-62EA-8A7B-2DBCDF2D4AE0}"/>
              </a:ext>
            </a:extLst>
          </p:cNvPr>
          <p:cNvSpPr txBox="1">
            <a:spLocks noChangeArrowheads="1"/>
          </p:cNvSpPr>
          <p:nvPr/>
        </p:nvSpPr>
        <p:spPr bwMode="auto">
          <a:xfrm>
            <a:off x="577850" y="1189038"/>
            <a:ext cx="1754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Arial" panose="020B0604020202020204" pitchFamily="34" charset="0"/>
              <a:buChar char="•"/>
              <a:defRPr sz="2400" b="1">
                <a:solidFill>
                  <a:schemeClr val="tx1"/>
                </a:solidFill>
                <a:latin typeface="Century Gothic" panose="020B0502020202020204" pitchFamily="34" charset="0"/>
                <a:ea typeface="MS PGothic" panose="020B0600070205080204" pitchFamily="34" charset="-128"/>
              </a:defRPr>
            </a:lvl1pPr>
            <a:lvl2pPr marL="742950" indent="-285750">
              <a:spcBef>
                <a:spcPct val="20000"/>
              </a:spcBef>
              <a:buClr>
                <a:schemeClr val="tx2"/>
              </a:buClr>
              <a:buFont typeface="Arial" panose="020B0604020202020204" pitchFamily="34" charset="0"/>
              <a:buChar char="–"/>
              <a:defRPr sz="2200">
                <a:solidFill>
                  <a:schemeClr val="tx1"/>
                </a:solidFill>
                <a:latin typeface="Century Gothic" panose="020B0502020202020204" pitchFamily="34" charset="0"/>
                <a:ea typeface="MS PGothic" panose="020B0600070205080204" pitchFamily="34" charset="-128"/>
              </a:defRPr>
            </a:lvl2pPr>
            <a:lvl3pPr marL="1143000" indent="-228600">
              <a:spcBef>
                <a:spcPct val="20000"/>
              </a:spcBef>
              <a:buClr>
                <a:schemeClr val="tx2"/>
              </a:buClr>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9pPr>
          </a:lstStyle>
          <a:p>
            <a:pPr>
              <a:spcBef>
                <a:spcPct val="0"/>
              </a:spcBef>
              <a:buClrTx/>
              <a:buFontTx/>
              <a:buNone/>
            </a:pPr>
            <a:r>
              <a:rPr lang="en-US" altLang="en-US" sz="1800" b="0" dirty="0" err="1"/>
              <a:t>Paucartambo</a:t>
            </a:r>
            <a:endParaRPr lang="en-US" altLang="en-US" sz="1800" b="0" dirty="0"/>
          </a:p>
        </p:txBody>
      </p:sp>
      <p:pic>
        <p:nvPicPr>
          <p:cNvPr id="7174" name="Picture 6">
            <a:extLst>
              <a:ext uri="{FF2B5EF4-FFF2-40B4-BE49-F238E27FC236}">
                <a16:creationId xmlns:a16="http://schemas.microsoft.com/office/drawing/2014/main" id="{FD44F88A-B496-33A1-2956-38F70E0EFDD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04362" y="2224484"/>
            <a:ext cx="2327275"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Box 8">
            <a:extLst>
              <a:ext uri="{FF2B5EF4-FFF2-40B4-BE49-F238E27FC236}">
                <a16:creationId xmlns:a16="http://schemas.microsoft.com/office/drawing/2014/main" id="{92ABC380-01F9-8458-8B10-13EB705FB391}"/>
              </a:ext>
            </a:extLst>
          </p:cNvPr>
          <p:cNvSpPr txBox="1">
            <a:spLocks noChangeArrowheads="1"/>
          </p:cNvSpPr>
          <p:nvPr/>
        </p:nvSpPr>
        <p:spPr bwMode="auto">
          <a:xfrm>
            <a:off x="9672637" y="1513008"/>
            <a:ext cx="18732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Arial" panose="020B0604020202020204" pitchFamily="34" charset="0"/>
              <a:buChar char="•"/>
              <a:defRPr sz="2400" b="1">
                <a:solidFill>
                  <a:schemeClr val="tx1"/>
                </a:solidFill>
                <a:latin typeface="Century Gothic" panose="020B0502020202020204" pitchFamily="34" charset="0"/>
                <a:ea typeface="MS PGothic" panose="020B0600070205080204" pitchFamily="34" charset="-128"/>
              </a:defRPr>
            </a:lvl1pPr>
            <a:lvl2pPr marL="742950" indent="-285750">
              <a:spcBef>
                <a:spcPct val="20000"/>
              </a:spcBef>
              <a:buClr>
                <a:schemeClr val="tx2"/>
              </a:buClr>
              <a:buFont typeface="Arial" panose="020B0604020202020204" pitchFamily="34" charset="0"/>
              <a:buChar char="–"/>
              <a:defRPr sz="2200">
                <a:solidFill>
                  <a:schemeClr val="tx1"/>
                </a:solidFill>
                <a:latin typeface="Century Gothic" panose="020B0502020202020204" pitchFamily="34" charset="0"/>
                <a:ea typeface="MS PGothic" panose="020B0600070205080204" pitchFamily="34" charset="-128"/>
              </a:defRPr>
            </a:lvl2pPr>
            <a:lvl3pPr marL="1143000" indent="-228600">
              <a:spcBef>
                <a:spcPct val="20000"/>
              </a:spcBef>
              <a:buClr>
                <a:schemeClr val="tx2"/>
              </a:buClr>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9pPr>
          </a:lstStyle>
          <a:p>
            <a:pPr algn="ctr">
              <a:spcBef>
                <a:spcPct val="0"/>
              </a:spcBef>
              <a:buClrTx/>
              <a:buFontTx/>
              <a:buNone/>
            </a:pPr>
            <a:r>
              <a:rPr lang="en-US" altLang="en-US" sz="1400" b="0" dirty="0"/>
              <a:t>Glorioso Colegio Nacional De </a:t>
            </a:r>
            <a:r>
              <a:rPr lang="en-US" altLang="en-US" sz="1400" b="0" dirty="0" err="1"/>
              <a:t>Ciencias</a:t>
            </a:r>
            <a:r>
              <a:rPr lang="en-US" altLang="en-US" sz="1400" b="0" dirty="0"/>
              <a:t> del Cusco</a:t>
            </a:r>
          </a:p>
        </p:txBody>
      </p:sp>
      <p:pic>
        <p:nvPicPr>
          <p:cNvPr id="7176" name="Picture 9">
            <a:extLst>
              <a:ext uri="{FF2B5EF4-FFF2-40B4-BE49-F238E27FC236}">
                <a16:creationId xmlns:a16="http://schemas.microsoft.com/office/drawing/2014/main" id="{AFE9F226-3A6F-9B53-4A39-56BEDDABED7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67814" y="1106488"/>
            <a:ext cx="4095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Picture 10">
            <a:extLst>
              <a:ext uri="{FF2B5EF4-FFF2-40B4-BE49-F238E27FC236}">
                <a16:creationId xmlns:a16="http://schemas.microsoft.com/office/drawing/2014/main" id="{5757DB83-6000-D9F8-FFDC-DA3A4B4E85D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1144" y="4609593"/>
            <a:ext cx="2641600"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Picture 1">
            <a:extLst>
              <a:ext uri="{FF2B5EF4-FFF2-40B4-BE49-F238E27FC236}">
                <a16:creationId xmlns:a16="http://schemas.microsoft.com/office/drawing/2014/main" id="{A5525CC4-F0C3-511E-DFC5-9919D982D61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04362" y="4910810"/>
            <a:ext cx="245110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C9D08C9-417F-FAB0-1F7C-ED82AFD4CF47}"/>
              </a:ext>
            </a:extLst>
          </p:cNvPr>
          <p:cNvSpPr txBox="1"/>
          <p:nvPr/>
        </p:nvSpPr>
        <p:spPr>
          <a:xfrm>
            <a:off x="3024190" y="1171576"/>
            <a:ext cx="6096000" cy="4616648"/>
          </a:xfrm>
          <a:prstGeom prst="rect">
            <a:avLst/>
          </a:prstGeom>
          <a:noFill/>
        </p:spPr>
        <p:txBody>
          <a:bodyPr wrap="square">
            <a:spAutoFit/>
          </a:bodyPr>
          <a:lstStyle/>
          <a:p>
            <a:r>
              <a:rPr lang="en-US" sz="1400" dirty="0"/>
              <a:t>Fernando Figueroa was born in </a:t>
            </a:r>
            <a:r>
              <a:rPr lang="en-US" sz="1400" dirty="0" err="1"/>
              <a:t>Paucartambo</a:t>
            </a:r>
            <a:r>
              <a:rPr lang="en-US" sz="1400" dirty="0"/>
              <a:t>, Cusco, Perú. He attended primary school in </a:t>
            </a:r>
            <a:r>
              <a:rPr lang="en-US" sz="1400" dirty="0" err="1"/>
              <a:t>Paucartambo</a:t>
            </a:r>
            <a:r>
              <a:rPr lang="en-US" sz="1400" dirty="0"/>
              <a:t> and secondary school at the Glorioso Colegio Nacional de </a:t>
            </a:r>
            <a:r>
              <a:rPr lang="en-US" sz="1400" dirty="0" err="1"/>
              <a:t>Ciencias</a:t>
            </a:r>
            <a:r>
              <a:rPr lang="en-US" sz="1400" dirty="0"/>
              <a:t> in Cusco. He received his BS Degree at the University of Hartford, CT, and MS and Ph.D. Degrees at The Pennsylvania State University, PA; all in Mechanical Engineering. He was faculty of Mechanical Engineering at Tulane University (New Orleans) for 10 years, and Associate Chair of Advanced Instrumentation and Control at The University of New Brunswick (Canada) for 2 years. He is at NASA Stennis Space Center since 2000. He has led multiple R&amp;D projects in collaboration with academia, industry, government agencies, and other NASA centers. He has participated in 2 Zero-G flights; and has been the technical assistant to the Chief Engineer, Space Shuttle Systems and Integration, NASA Johnson Space Center. He is currently Subject-Matter-Expert for Autonomous Systems and Operations, working on projects funded by NASA’s Mars Campaign Office (MCO) - Earth , Space Technology Mission Directorate, and NASA Stennis Space Center. His areas of interest include Autonomous Operations and Systems, Hierarchical-Distributed autonomy, Knowledge-Based Thinking Systems, Integrated System Health Management (ISHM), Intelligent Systems, Intelligent Sensors, Robotics, and Automatic Controls. Fernando Figueroa was awarded the NASA Exceptional Technology Achievement Medal in 2017 for “Exceptional accomplishments in the advancement of autonomous systems in support of ground operations and spaceflight missions.</a:t>
            </a:r>
          </a:p>
        </p:txBody>
      </p:sp>
      <p:pic>
        <p:nvPicPr>
          <p:cNvPr id="5" name="Picture 4">
            <a:extLst>
              <a:ext uri="{FF2B5EF4-FFF2-40B4-BE49-F238E27FC236}">
                <a16:creationId xmlns:a16="http://schemas.microsoft.com/office/drawing/2014/main" id="{A29B1989-8D4B-1F89-DF41-061EAFEAE71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05449" y="5761037"/>
            <a:ext cx="819151" cy="988098"/>
          </a:xfrm>
          <a:prstGeom prst="rect">
            <a:avLst/>
          </a:prstGeom>
        </p:spPr>
      </p:pic>
      <p:sp>
        <p:nvSpPr>
          <p:cNvPr id="8" name="TextBox 4">
            <a:extLst>
              <a:ext uri="{FF2B5EF4-FFF2-40B4-BE49-F238E27FC236}">
                <a16:creationId xmlns:a16="http://schemas.microsoft.com/office/drawing/2014/main" id="{AAE56B77-FF2C-706F-6535-552E7FCAD327}"/>
              </a:ext>
            </a:extLst>
          </p:cNvPr>
          <p:cNvSpPr txBox="1">
            <a:spLocks noChangeArrowheads="1"/>
          </p:cNvSpPr>
          <p:nvPr/>
        </p:nvSpPr>
        <p:spPr bwMode="auto">
          <a:xfrm>
            <a:off x="194866" y="3894138"/>
            <a:ext cx="27666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Font typeface="Arial" panose="020B0604020202020204" pitchFamily="34" charset="0"/>
              <a:buChar char="•"/>
              <a:defRPr sz="2400" b="1">
                <a:solidFill>
                  <a:schemeClr val="tx1"/>
                </a:solidFill>
                <a:latin typeface="Century Gothic" panose="020B0502020202020204" pitchFamily="34" charset="0"/>
                <a:ea typeface="MS PGothic" panose="020B0600070205080204" pitchFamily="34" charset="-128"/>
              </a:defRPr>
            </a:lvl1pPr>
            <a:lvl2pPr marL="742950" indent="-285750">
              <a:spcBef>
                <a:spcPct val="20000"/>
              </a:spcBef>
              <a:buClr>
                <a:schemeClr val="tx2"/>
              </a:buClr>
              <a:buFont typeface="Arial" panose="020B0604020202020204" pitchFamily="34" charset="0"/>
              <a:buChar char="–"/>
              <a:defRPr sz="2200">
                <a:solidFill>
                  <a:schemeClr val="tx1"/>
                </a:solidFill>
                <a:latin typeface="Century Gothic" panose="020B0502020202020204" pitchFamily="34" charset="0"/>
                <a:ea typeface="MS PGothic" panose="020B0600070205080204" pitchFamily="34" charset="-128"/>
              </a:defRPr>
            </a:lvl2pPr>
            <a:lvl3pPr marL="1143000" indent="-228600">
              <a:spcBef>
                <a:spcPct val="20000"/>
              </a:spcBef>
              <a:buClr>
                <a:schemeClr val="tx2"/>
              </a:buClr>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9pPr>
          </a:lstStyle>
          <a:p>
            <a:pPr>
              <a:spcBef>
                <a:spcPct val="0"/>
              </a:spcBef>
              <a:buClrTx/>
              <a:buFontTx/>
              <a:buNone/>
            </a:pPr>
            <a:r>
              <a:rPr lang="en-US" altLang="en-US" sz="1800" b="0" dirty="0"/>
              <a:t>Zero-G flight at NASA Johnson Space Center</a:t>
            </a:r>
          </a:p>
        </p:txBody>
      </p:sp>
      <p:sp>
        <p:nvSpPr>
          <p:cNvPr id="9" name="TextBox 4">
            <a:extLst>
              <a:ext uri="{FF2B5EF4-FFF2-40B4-BE49-F238E27FC236}">
                <a16:creationId xmlns:a16="http://schemas.microsoft.com/office/drawing/2014/main" id="{3A4A203E-EB12-F63B-B921-DA16605CC984}"/>
              </a:ext>
            </a:extLst>
          </p:cNvPr>
          <p:cNvSpPr txBox="1">
            <a:spLocks noChangeArrowheads="1"/>
          </p:cNvSpPr>
          <p:nvPr/>
        </p:nvSpPr>
        <p:spPr bwMode="auto">
          <a:xfrm>
            <a:off x="9852818" y="4425443"/>
            <a:ext cx="9028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Arial" panose="020B0604020202020204" pitchFamily="34" charset="0"/>
              <a:buChar char="•"/>
              <a:defRPr sz="2400" b="1">
                <a:solidFill>
                  <a:schemeClr val="tx1"/>
                </a:solidFill>
                <a:latin typeface="Century Gothic" panose="020B0502020202020204" pitchFamily="34" charset="0"/>
                <a:ea typeface="MS PGothic" panose="020B0600070205080204" pitchFamily="34" charset="-128"/>
              </a:defRPr>
            </a:lvl1pPr>
            <a:lvl2pPr marL="742950" indent="-285750">
              <a:spcBef>
                <a:spcPct val="20000"/>
              </a:spcBef>
              <a:buClr>
                <a:schemeClr val="tx2"/>
              </a:buClr>
              <a:buFont typeface="Arial" panose="020B0604020202020204" pitchFamily="34" charset="0"/>
              <a:buChar char="–"/>
              <a:defRPr sz="2200">
                <a:solidFill>
                  <a:schemeClr val="tx1"/>
                </a:solidFill>
                <a:latin typeface="Century Gothic" panose="020B0502020202020204" pitchFamily="34" charset="0"/>
                <a:ea typeface="MS PGothic" panose="020B0600070205080204" pitchFamily="34" charset="-128"/>
              </a:defRPr>
            </a:lvl2pPr>
            <a:lvl3pPr marL="1143000" indent="-228600">
              <a:spcBef>
                <a:spcPct val="20000"/>
              </a:spcBef>
              <a:buClr>
                <a:schemeClr val="tx2"/>
              </a:buClr>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entury Gothic" panose="020B0502020202020204" pitchFamily="34" charset="0"/>
                <a:ea typeface="MS PGothic" panose="020B0600070205080204" pitchFamily="34" charset="-128"/>
              </a:defRPr>
            </a:lvl9pPr>
          </a:lstStyle>
          <a:p>
            <a:pPr>
              <a:spcBef>
                <a:spcPct val="0"/>
              </a:spcBef>
              <a:buClrTx/>
              <a:buFontTx/>
              <a:buNone/>
            </a:pPr>
            <a:r>
              <a:rPr lang="en-US" altLang="en-US" sz="1800" b="0" dirty="0"/>
              <a:t>Cusco</a:t>
            </a:r>
          </a:p>
        </p:txBody>
      </p:sp>
    </p:spTree>
    <p:extLst>
      <p:ext uri="{BB962C8B-B14F-4D97-AF65-F5344CB8AC3E}">
        <p14:creationId xmlns:p14="http://schemas.microsoft.com/office/powerpoint/2010/main" val="2144588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6226-CCA5-D714-E361-49229FA7B22D}"/>
              </a:ext>
            </a:extLst>
          </p:cNvPr>
          <p:cNvSpPr>
            <a:spLocks noGrp="1"/>
          </p:cNvSpPr>
          <p:nvPr>
            <p:ph type="title"/>
          </p:nvPr>
        </p:nvSpPr>
        <p:spPr/>
        <p:txBody>
          <a:bodyPr/>
          <a:lstStyle/>
          <a:p>
            <a:pPr algn="ctr"/>
            <a:r>
              <a:rPr lang="en-US" dirty="0"/>
              <a:t>NASA Stennis Space Center Rocket Engine Test Complex</a:t>
            </a:r>
          </a:p>
        </p:txBody>
      </p:sp>
      <p:sp>
        <p:nvSpPr>
          <p:cNvPr id="4" name="Slide Number Placeholder 3">
            <a:extLst>
              <a:ext uri="{FF2B5EF4-FFF2-40B4-BE49-F238E27FC236}">
                <a16:creationId xmlns:a16="http://schemas.microsoft.com/office/drawing/2014/main" id="{6B65C90A-3F77-6B2C-4909-CDC91385D23E}"/>
              </a:ext>
            </a:extLst>
          </p:cNvPr>
          <p:cNvSpPr>
            <a:spLocks noGrp="1"/>
          </p:cNvSpPr>
          <p:nvPr>
            <p:ph type="sldNum" sz="quarter" idx="12"/>
          </p:nvPr>
        </p:nvSpPr>
        <p:spPr/>
        <p:txBody>
          <a:bodyPr/>
          <a:lstStyle/>
          <a:p>
            <a:fld id="{0267D5B8-E44A-4D0F-96C7-902652BCFAA0}" type="slidenum">
              <a:rPr lang="en-US" smtClean="0"/>
              <a:t>3</a:t>
            </a:fld>
            <a:endParaRPr lang="en-US"/>
          </a:p>
        </p:txBody>
      </p:sp>
      <p:pic>
        <p:nvPicPr>
          <p:cNvPr id="6" name="Picture 5">
            <a:extLst>
              <a:ext uri="{FF2B5EF4-FFF2-40B4-BE49-F238E27FC236}">
                <a16:creationId xmlns:a16="http://schemas.microsoft.com/office/drawing/2014/main" id="{9322D1D9-C34E-D62B-44E8-5C4748392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775" y="1736130"/>
            <a:ext cx="8972550" cy="5047060"/>
          </a:xfrm>
          <a:prstGeom prst="rect">
            <a:avLst/>
          </a:prstGeom>
        </p:spPr>
      </p:pic>
    </p:spTree>
    <p:extLst>
      <p:ext uri="{BB962C8B-B14F-4D97-AF65-F5344CB8AC3E}">
        <p14:creationId xmlns:p14="http://schemas.microsoft.com/office/powerpoint/2010/main" val="301979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DC6A-9E71-63E7-46E4-6F46025D4ED4}"/>
              </a:ext>
            </a:extLst>
          </p:cNvPr>
          <p:cNvSpPr>
            <a:spLocks noGrp="1"/>
          </p:cNvSpPr>
          <p:nvPr>
            <p:ph type="title"/>
          </p:nvPr>
        </p:nvSpPr>
        <p:spPr/>
        <p:txBody>
          <a:bodyPr/>
          <a:lstStyle/>
          <a:p>
            <a:pPr algn="ctr"/>
            <a:r>
              <a:rPr lang="en-US" dirty="0"/>
              <a:t>NASA Stennis Space Center</a:t>
            </a:r>
            <a:br>
              <a:rPr lang="en-US" dirty="0"/>
            </a:br>
            <a:r>
              <a:rPr lang="en-US" dirty="0"/>
              <a:t>Autonomous Systems Laboratory</a:t>
            </a:r>
          </a:p>
        </p:txBody>
      </p:sp>
      <p:sp>
        <p:nvSpPr>
          <p:cNvPr id="4" name="Slide Number Placeholder 3">
            <a:extLst>
              <a:ext uri="{FF2B5EF4-FFF2-40B4-BE49-F238E27FC236}">
                <a16:creationId xmlns:a16="http://schemas.microsoft.com/office/drawing/2014/main" id="{58B88D17-A69D-75FE-6793-092CCAB08ADA}"/>
              </a:ext>
            </a:extLst>
          </p:cNvPr>
          <p:cNvSpPr>
            <a:spLocks noGrp="1"/>
          </p:cNvSpPr>
          <p:nvPr>
            <p:ph type="sldNum" sz="quarter" idx="12"/>
          </p:nvPr>
        </p:nvSpPr>
        <p:spPr/>
        <p:txBody>
          <a:bodyPr/>
          <a:lstStyle/>
          <a:p>
            <a:fld id="{0267D5B8-E44A-4D0F-96C7-902652BCFAA0}" type="slidenum">
              <a:rPr lang="en-US" smtClean="0"/>
              <a:t>4</a:t>
            </a:fld>
            <a:endParaRPr lang="en-US"/>
          </a:p>
        </p:txBody>
      </p:sp>
      <p:pic>
        <p:nvPicPr>
          <p:cNvPr id="6" name="Picture 5">
            <a:extLst>
              <a:ext uri="{FF2B5EF4-FFF2-40B4-BE49-F238E27FC236}">
                <a16:creationId xmlns:a16="http://schemas.microsoft.com/office/drawing/2014/main" id="{E6434884-C16C-F28A-1A2F-73D240507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4112" y="1825625"/>
            <a:ext cx="7343775" cy="4895850"/>
          </a:xfrm>
          <a:prstGeom prst="rect">
            <a:avLst/>
          </a:prstGeom>
        </p:spPr>
      </p:pic>
    </p:spTree>
    <p:extLst>
      <p:ext uri="{BB962C8B-B14F-4D97-AF65-F5344CB8AC3E}">
        <p14:creationId xmlns:p14="http://schemas.microsoft.com/office/powerpoint/2010/main" val="131260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Videos</a:t>
            </a:r>
          </a:p>
        </p:txBody>
      </p:sp>
      <p:sp>
        <p:nvSpPr>
          <p:cNvPr id="3" name="Content Placeholder 2"/>
          <p:cNvSpPr>
            <a:spLocks noGrp="1"/>
          </p:cNvSpPr>
          <p:nvPr>
            <p:ph idx="1"/>
          </p:nvPr>
        </p:nvSpPr>
        <p:spPr/>
        <p:txBody>
          <a:bodyPr/>
          <a:lstStyle/>
          <a:p>
            <a:r>
              <a:rPr lang="en-US" dirty="0"/>
              <a:t>NASA Stennis Space Center</a:t>
            </a:r>
          </a:p>
        </p:txBody>
      </p:sp>
      <p:sp>
        <p:nvSpPr>
          <p:cNvPr id="4" name="Slide Number Placeholder 3"/>
          <p:cNvSpPr>
            <a:spLocks noGrp="1"/>
          </p:cNvSpPr>
          <p:nvPr>
            <p:ph type="sldNum" sz="quarter" idx="12"/>
          </p:nvPr>
        </p:nvSpPr>
        <p:spPr/>
        <p:txBody>
          <a:bodyPr/>
          <a:lstStyle/>
          <a:p>
            <a:fld id="{0267D5B8-E44A-4D0F-96C7-902652BCFAA0}" type="slidenum">
              <a:rPr lang="en-US" smtClean="0"/>
              <a:t>5</a:t>
            </a:fld>
            <a:endParaRPr lang="en-US"/>
          </a:p>
        </p:txBody>
      </p:sp>
    </p:spTree>
    <p:extLst>
      <p:ext uri="{BB962C8B-B14F-4D97-AF65-F5344CB8AC3E}">
        <p14:creationId xmlns:p14="http://schemas.microsoft.com/office/powerpoint/2010/main" val="135953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267D5B8-E44A-4D0F-96C7-902652BCFAA0}" type="slidenum">
              <a:rPr lang="en-US" smtClean="0"/>
              <a:t>6</a:t>
            </a:fld>
            <a:endParaRPr lang="en-US"/>
          </a:p>
        </p:txBody>
      </p:sp>
      <p:sp>
        <p:nvSpPr>
          <p:cNvPr id="5" name="Title 1"/>
          <p:cNvSpPr>
            <a:spLocks noGrp="1"/>
          </p:cNvSpPr>
          <p:nvPr>
            <p:ph type="title"/>
          </p:nvPr>
        </p:nvSpPr>
        <p:spPr>
          <a:xfrm>
            <a:off x="838200" y="365125"/>
            <a:ext cx="10515600" cy="1325563"/>
          </a:xfrm>
        </p:spPr>
        <p:txBody>
          <a:bodyPr/>
          <a:lstStyle/>
          <a:p>
            <a:r>
              <a:rPr lang="en-US" dirty="0"/>
              <a:t>Is a Person an Autonomous System?</a:t>
            </a:r>
          </a:p>
        </p:txBody>
      </p:sp>
      <p:sp>
        <p:nvSpPr>
          <p:cNvPr id="6" name="Content Placeholder 2"/>
          <p:cNvSpPr>
            <a:spLocks noGrp="1"/>
          </p:cNvSpPr>
          <p:nvPr>
            <p:ph idx="1"/>
          </p:nvPr>
        </p:nvSpPr>
        <p:spPr>
          <a:xfrm>
            <a:off x="838200" y="1825625"/>
            <a:ext cx="10515600" cy="4351338"/>
          </a:xfrm>
        </p:spPr>
        <p:txBody>
          <a:bodyPr>
            <a:normAutofit fontScale="92500" lnSpcReduction="10000"/>
          </a:bodyPr>
          <a:lstStyle/>
          <a:p>
            <a:r>
              <a:rPr lang="en-US" dirty="0"/>
              <a:t>How much does a person know to be autonomous?</a:t>
            </a:r>
          </a:p>
          <a:p>
            <a:r>
              <a:rPr lang="en-US" dirty="0"/>
              <a:t>What does a person know to be autonomous? Everything?</a:t>
            </a:r>
          </a:p>
          <a:p>
            <a:r>
              <a:rPr lang="en-US" dirty="0"/>
              <a:t>Are other beings autonomous? Animals? Plants?</a:t>
            </a:r>
          </a:p>
          <a:p>
            <a:r>
              <a:rPr lang="en-US" dirty="0"/>
              <a:t>What are benefits of autonomy?</a:t>
            </a:r>
          </a:p>
          <a:p>
            <a:pPr lvl="1"/>
            <a:r>
              <a:rPr lang="en-US" dirty="0"/>
              <a:t>Survival?</a:t>
            </a:r>
          </a:p>
          <a:p>
            <a:pPr lvl="1"/>
            <a:r>
              <a:rPr lang="en-US" dirty="0"/>
              <a:t>Safety?</a:t>
            </a:r>
          </a:p>
          <a:p>
            <a:pPr lvl="1"/>
            <a:r>
              <a:rPr lang="en-US" dirty="0"/>
              <a:t>Protection from external elements?</a:t>
            </a:r>
          </a:p>
          <a:p>
            <a:pPr lvl="1"/>
            <a:r>
              <a:rPr lang="en-US" dirty="0"/>
              <a:t>Evolution: learning?</a:t>
            </a:r>
          </a:p>
          <a:p>
            <a:r>
              <a:rPr lang="en-US" dirty="0"/>
              <a:t>An AS could be better than a human in some respects (a reality now), but it can’t think, contemplate, speculate, and make rational decisions… or can it?</a:t>
            </a:r>
          </a:p>
          <a:p>
            <a:pPr lvl="1"/>
            <a:endParaRPr lang="en-US" dirty="0"/>
          </a:p>
        </p:txBody>
      </p:sp>
    </p:spTree>
    <p:extLst>
      <p:ext uri="{BB962C8B-B14F-4D97-AF65-F5344CB8AC3E}">
        <p14:creationId xmlns:p14="http://schemas.microsoft.com/office/powerpoint/2010/main" val="217798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Autonomous Systems</a:t>
            </a:r>
          </a:p>
        </p:txBody>
      </p:sp>
      <p:sp>
        <p:nvSpPr>
          <p:cNvPr id="4" name="Slide Number Placeholder 3"/>
          <p:cNvSpPr>
            <a:spLocks noGrp="1"/>
          </p:cNvSpPr>
          <p:nvPr>
            <p:ph type="sldNum" sz="quarter" idx="12"/>
          </p:nvPr>
        </p:nvSpPr>
        <p:spPr/>
        <p:txBody>
          <a:bodyPr/>
          <a:lstStyle/>
          <a:p>
            <a:fld id="{0267D5B8-E44A-4D0F-96C7-902652BCFAA0}" type="slidenum">
              <a:rPr lang="en-US" smtClean="0"/>
              <a:t>7</a:t>
            </a:fld>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1945595"/>
            <a:ext cx="3172326" cy="4227705"/>
          </a:xfrm>
          <a:prstGeom prst="rect">
            <a:avLst/>
          </a:prstGeom>
        </p:spPr>
      </p:pic>
      <p:sp>
        <p:nvSpPr>
          <p:cNvPr id="7" name="TextBox 6"/>
          <p:cNvSpPr txBox="1"/>
          <p:nvPr/>
        </p:nvSpPr>
        <p:spPr>
          <a:xfrm>
            <a:off x="838200" y="6356350"/>
            <a:ext cx="3243901" cy="369332"/>
          </a:xfrm>
          <a:prstGeom prst="rect">
            <a:avLst/>
          </a:prstGeom>
          <a:noFill/>
        </p:spPr>
        <p:txBody>
          <a:bodyPr wrap="none" rtlCol="0">
            <a:spAutoFit/>
          </a:bodyPr>
          <a:lstStyle/>
          <a:p>
            <a:r>
              <a:rPr lang="en-US" dirty="0"/>
              <a:t>NASA </a:t>
            </a:r>
            <a:r>
              <a:rPr lang="en-US" dirty="0" err="1"/>
              <a:t>TransHab</a:t>
            </a:r>
            <a:r>
              <a:rPr lang="en-US" dirty="0"/>
              <a:t> Module Concept</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7590" y="1945595"/>
            <a:ext cx="3005500" cy="1344729"/>
          </a:xfrm>
          <a:prstGeom prst="rect">
            <a:avLst/>
          </a:prstGeom>
        </p:spPr>
      </p:pic>
      <p:sp>
        <p:nvSpPr>
          <p:cNvPr id="10" name="TextBox 9"/>
          <p:cNvSpPr txBox="1"/>
          <p:nvPr/>
        </p:nvSpPr>
        <p:spPr>
          <a:xfrm>
            <a:off x="4267590" y="3469521"/>
            <a:ext cx="2126608" cy="369332"/>
          </a:xfrm>
          <a:prstGeom prst="rect">
            <a:avLst/>
          </a:prstGeom>
          <a:noFill/>
        </p:spPr>
        <p:txBody>
          <a:bodyPr wrap="none" rtlCol="0">
            <a:spAutoFit/>
          </a:bodyPr>
          <a:lstStyle/>
          <a:p>
            <a:r>
              <a:rPr lang="en-US" dirty="0"/>
              <a:t>Autonomous Vehicle</a:t>
            </a:r>
          </a:p>
        </p:txBody>
      </p:sp>
      <p:sp>
        <p:nvSpPr>
          <p:cNvPr id="11" name="Rectangle 10"/>
          <p:cNvSpPr/>
          <p:nvPr/>
        </p:nvSpPr>
        <p:spPr>
          <a:xfrm>
            <a:off x="3219661" y="3838853"/>
            <a:ext cx="9323148" cy="1754326"/>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Can one make anything autonomous?</a:t>
            </a:r>
          </a:p>
        </p:txBody>
      </p:sp>
    </p:spTree>
    <p:extLst>
      <p:ext uri="{BB962C8B-B14F-4D97-AF65-F5344CB8AC3E}">
        <p14:creationId xmlns:p14="http://schemas.microsoft.com/office/powerpoint/2010/main" val="1583238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740" y="80454"/>
            <a:ext cx="10515600" cy="1325563"/>
          </a:xfrm>
        </p:spPr>
        <p:txBody>
          <a:bodyPr/>
          <a:lstStyle/>
          <a:p>
            <a:r>
              <a:rPr lang="en-US" dirty="0"/>
              <a:t>Smart City: Can Autonomy benefit?</a:t>
            </a:r>
          </a:p>
        </p:txBody>
      </p:sp>
      <p:sp>
        <p:nvSpPr>
          <p:cNvPr id="4" name="Slide Number Placeholder 3"/>
          <p:cNvSpPr>
            <a:spLocks noGrp="1"/>
          </p:cNvSpPr>
          <p:nvPr>
            <p:ph type="sldNum" sz="quarter" idx="12"/>
          </p:nvPr>
        </p:nvSpPr>
        <p:spPr/>
        <p:txBody>
          <a:bodyPr/>
          <a:lstStyle/>
          <a:p>
            <a:fld id="{0267D5B8-E44A-4D0F-96C7-902652BCFAA0}" type="slidenum">
              <a:rPr lang="en-US" smtClean="0"/>
              <a:t>8</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706" y="1246356"/>
            <a:ext cx="10058399" cy="5308600"/>
          </a:xfrm>
          <a:prstGeom prst="rect">
            <a:avLst/>
          </a:prstGeom>
        </p:spPr>
      </p:pic>
    </p:spTree>
    <p:extLst>
      <p:ext uri="{BB962C8B-B14F-4D97-AF65-F5344CB8AC3E}">
        <p14:creationId xmlns:p14="http://schemas.microsoft.com/office/powerpoint/2010/main" val="421336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Autonomy and Automation</a:t>
            </a:r>
          </a:p>
        </p:txBody>
      </p:sp>
      <p:sp>
        <p:nvSpPr>
          <p:cNvPr id="3" name="Content Placeholder 2"/>
          <p:cNvSpPr>
            <a:spLocks noGrp="1"/>
          </p:cNvSpPr>
          <p:nvPr>
            <p:ph idx="1"/>
          </p:nvPr>
        </p:nvSpPr>
        <p:spPr>
          <a:xfrm>
            <a:off x="838200" y="4433977"/>
            <a:ext cx="10928230" cy="1742985"/>
          </a:xfrm>
        </p:spPr>
        <p:txBody>
          <a:bodyPr>
            <a:normAutofit fontScale="77500" lnSpcReduction="20000"/>
          </a:bodyPr>
          <a:lstStyle/>
          <a:p>
            <a:r>
              <a:rPr lang="en-US" dirty="0"/>
              <a:t>An autonomous system does not need to be automated.</a:t>
            </a:r>
          </a:p>
          <a:p>
            <a:pPr lvl="1"/>
            <a:r>
              <a:rPr lang="en-US" dirty="0"/>
              <a:t>Automation is the execution resource to carry out tasks defined as a result of autonomy.</a:t>
            </a:r>
          </a:p>
          <a:p>
            <a:pPr lvl="1"/>
            <a:r>
              <a:rPr lang="en-US" dirty="0"/>
              <a:t>It is conceivable to have an autonomous system that is manually operated.</a:t>
            </a:r>
          </a:p>
          <a:p>
            <a:r>
              <a:rPr lang="en-US" dirty="0"/>
              <a:t>An automated system is greatly enhanced by autonomous capability. </a:t>
            </a:r>
          </a:p>
          <a:p>
            <a:pPr lvl="1"/>
            <a:r>
              <a:rPr lang="en-US" dirty="0"/>
              <a:t>Automated tasks are able to accomplish the objectives with greater robustness, efficiency, reliability.</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7499" y="1690688"/>
            <a:ext cx="1177595" cy="937269"/>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4913" y="1750970"/>
            <a:ext cx="2687847" cy="1791898"/>
          </a:xfrm>
          <a:prstGeom prst="rect">
            <a:avLst/>
          </a:prstGeom>
        </p:spPr>
      </p:pic>
      <p:sp>
        <p:nvSpPr>
          <p:cNvPr id="7" name="TextBox 6"/>
          <p:cNvSpPr txBox="1"/>
          <p:nvPr/>
        </p:nvSpPr>
        <p:spPr>
          <a:xfrm>
            <a:off x="2046849" y="1321356"/>
            <a:ext cx="1163973" cy="369332"/>
          </a:xfrm>
          <a:prstGeom prst="rect">
            <a:avLst/>
          </a:prstGeom>
          <a:noFill/>
        </p:spPr>
        <p:txBody>
          <a:bodyPr wrap="none" rtlCol="0">
            <a:spAutoFit/>
          </a:bodyPr>
          <a:lstStyle/>
          <a:p>
            <a:r>
              <a:rPr lang="en-US" dirty="0"/>
              <a:t>Autonomy</a:t>
            </a:r>
          </a:p>
        </p:txBody>
      </p:sp>
      <p:sp>
        <p:nvSpPr>
          <p:cNvPr id="8" name="TextBox 7"/>
          <p:cNvSpPr txBox="1"/>
          <p:nvPr/>
        </p:nvSpPr>
        <p:spPr>
          <a:xfrm>
            <a:off x="7118947" y="1351593"/>
            <a:ext cx="2207527" cy="369332"/>
          </a:xfrm>
          <a:prstGeom prst="rect">
            <a:avLst/>
          </a:prstGeom>
          <a:noFill/>
        </p:spPr>
        <p:txBody>
          <a:bodyPr wrap="none" rtlCol="0">
            <a:spAutoFit/>
          </a:bodyPr>
          <a:lstStyle/>
          <a:p>
            <a:r>
              <a:rPr lang="en-US" dirty="0"/>
              <a:t>Automated Execution</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7671" y="3090161"/>
            <a:ext cx="2658625" cy="905414"/>
          </a:xfrm>
          <a:prstGeom prst="rect">
            <a:avLst/>
          </a:prstGeom>
        </p:spPr>
      </p:pic>
      <p:sp>
        <p:nvSpPr>
          <p:cNvPr id="10" name="TextBox 9"/>
          <p:cNvSpPr txBox="1"/>
          <p:nvPr/>
        </p:nvSpPr>
        <p:spPr>
          <a:xfrm>
            <a:off x="5252410" y="2751066"/>
            <a:ext cx="1866537" cy="369332"/>
          </a:xfrm>
          <a:prstGeom prst="rect">
            <a:avLst/>
          </a:prstGeom>
          <a:noFill/>
        </p:spPr>
        <p:txBody>
          <a:bodyPr wrap="none" rtlCol="0">
            <a:spAutoFit/>
          </a:bodyPr>
          <a:lstStyle/>
          <a:p>
            <a:r>
              <a:rPr lang="en-US" dirty="0"/>
              <a:t>Manual Execution</a:t>
            </a:r>
          </a:p>
        </p:txBody>
      </p:sp>
      <p:sp>
        <p:nvSpPr>
          <p:cNvPr id="11" name="Right Arrow 10"/>
          <p:cNvSpPr/>
          <p:nvPr/>
        </p:nvSpPr>
        <p:spPr>
          <a:xfrm>
            <a:off x="4339087" y="1811547"/>
            <a:ext cx="2613804" cy="2415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123426" y="3364302"/>
            <a:ext cx="724619" cy="1785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5555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a:xfrm>
            <a:off x="944216" y="1391478"/>
            <a:ext cx="10409583" cy="4785485"/>
          </a:xfrm>
        </p:spPr>
        <p:txBody>
          <a:bodyPr>
            <a:normAutofit fontScale="70000" lnSpcReduction="20000"/>
          </a:bodyPr>
          <a:lstStyle/>
          <a:p>
            <a:pPr marL="0" indent="0">
              <a:buNone/>
            </a:pPr>
            <a:r>
              <a:rPr lang="en-US" dirty="0"/>
              <a:t>Artificial Autonomous Systems (AAS)</a:t>
            </a:r>
          </a:p>
          <a:p>
            <a:r>
              <a:rPr lang="en-US" dirty="0"/>
              <a:t>A system that embarks in the execution of a mission by its own means, while applying strategies to deal with unforeseen circumstances that  may interfere in its success.</a:t>
            </a:r>
          </a:p>
          <a:p>
            <a:pPr lvl="1"/>
            <a:r>
              <a:rPr lang="en-US" dirty="0"/>
              <a:t>This does not mean that an autonomous system is able to “think.”</a:t>
            </a:r>
          </a:p>
          <a:p>
            <a:pPr lvl="1"/>
            <a:r>
              <a:rPr lang="en-US" dirty="0"/>
              <a:t>In fact autonomous systems today use brute-force methods to achieve autonomy.</a:t>
            </a:r>
          </a:p>
          <a:p>
            <a:pPr marL="0" indent="0">
              <a:buNone/>
            </a:pPr>
            <a:endParaRPr lang="en-US" dirty="0"/>
          </a:p>
          <a:p>
            <a:pPr marL="0" indent="0">
              <a:buNone/>
            </a:pPr>
            <a:r>
              <a:rPr lang="en-US" dirty="0"/>
              <a:t>Thinking Artificial Autonomous Systems (TAAS)</a:t>
            </a:r>
          </a:p>
          <a:p>
            <a:pPr marL="0" indent="0">
              <a:buNone/>
            </a:pPr>
            <a:endParaRPr lang="en-US" dirty="0"/>
          </a:p>
          <a:p>
            <a:pPr marL="0" indent="0">
              <a:buNone/>
            </a:pPr>
            <a:r>
              <a:rPr lang="en-US" i="1" dirty="0">
                <a:solidFill>
                  <a:srgbClr val="00B050"/>
                </a:solidFill>
              </a:rPr>
              <a:t>Achieve autonomy by thinking with principles, concepts, and models.</a:t>
            </a:r>
          </a:p>
          <a:p>
            <a:pPr marL="0" indent="0">
              <a:buNone/>
            </a:pPr>
            <a:endParaRPr lang="en-US" dirty="0"/>
          </a:p>
          <a:p>
            <a:pPr marL="0" indent="0">
              <a:buNone/>
            </a:pPr>
            <a:r>
              <a:rPr lang="en-US" b="1" dirty="0"/>
              <a:t>To Think</a:t>
            </a:r>
            <a:r>
              <a:rPr lang="en-US" dirty="0"/>
              <a:t>: “direct one's </a:t>
            </a:r>
            <a:r>
              <a:rPr lang="en-US" dirty="0">
                <a:solidFill>
                  <a:srgbClr val="FF0000"/>
                </a:solidFill>
              </a:rPr>
              <a:t>mind</a:t>
            </a:r>
            <a:r>
              <a:rPr lang="en-US" dirty="0"/>
              <a:t> toward someone or something; use one's mind actively to form connected ideas.” (Oxford </a:t>
            </a:r>
            <a:r>
              <a:rPr lang="en-US" dirty="0" err="1"/>
              <a:t>Dictionnary</a:t>
            </a:r>
            <a:r>
              <a:rPr lang="en-US" dirty="0"/>
              <a:t>)</a:t>
            </a:r>
          </a:p>
          <a:p>
            <a:pPr lvl="1"/>
            <a:r>
              <a:rPr lang="en-US" dirty="0"/>
              <a:t>"he was thinking about Colin“</a:t>
            </a:r>
          </a:p>
          <a:p>
            <a:r>
              <a:rPr lang="en-US" dirty="0"/>
              <a:t>To use the brain to decide to do something</a:t>
            </a:r>
          </a:p>
          <a:p>
            <a:r>
              <a:rPr lang="en-US" dirty="0">
                <a:hlinkClick r:id="rId2"/>
              </a:rPr>
              <a:t>https://www.merriam-webster.com/dictionary/think</a:t>
            </a:r>
            <a:endParaRPr lang="en-US" dirty="0"/>
          </a:p>
          <a:p>
            <a:endParaRPr lang="en-US" dirty="0"/>
          </a:p>
          <a:p>
            <a:endParaRPr lang="en-US" dirty="0"/>
          </a:p>
          <a:p>
            <a:endParaRPr lang="en-US" dirty="0"/>
          </a:p>
          <a:p>
            <a:pPr marL="0" indent="0">
              <a:buNone/>
            </a:pP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10</a:t>
            </a:fld>
            <a:endParaRPr lang="en-US" dirty="0"/>
          </a:p>
        </p:txBody>
      </p:sp>
    </p:spTree>
    <p:extLst>
      <p:ext uri="{BB962C8B-B14F-4D97-AF65-F5344CB8AC3E}">
        <p14:creationId xmlns:p14="http://schemas.microsoft.com/office/powerpoint/2010/main" val="892473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lvl="0"/>
            <a:r>
              <a:rPr lang="en-US" dirty="0"/>
              <a:t>Areas that encompass TAS.</a:t>
            </a:r>
          </a:p>
          <a:p>
            <a:pPr lvl="1"/>
            <a:r>
              <a:rPr lang="en-US" dirty="0"/>
              <a:t>Integrated System Health Management (ISHM).</a:t>
            </a:r>
          </a:p>
          <a:p>
            <a:pPr lvl="1"/>
            <a:r>
              <a:rPr lang="en-US" dirty="0"/>
              <a:t>Autonomy knowledge (strategies).</a:t>
            </a:r>
          </a:p>
          <a:p>
            <a:pPr lvl="1"/>
            <a:r>
              <a:rPr lang="en-US" dirty="0"/>
              <a:t>System description/modeling (knowledge domains).</a:t>
            </a:r>
          </a:p>
          <a:p>
            <a:pPr lvl="1"/>
            <a:r>
              <a:rPr lang="en-US" dirty="0"/>
              <a:t>Concepts of operations for autonomous systems.</a:t>
            </a:r>
          </a:p>
          <a:p>
            <a:pPr lvl="1"/>
            <a:r>
              <a:rPr lang="en-US" dirty="0"/>
              <a:t>Planning and execution of autonomous operations.</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11</a:t>
            </a:fld>
            <a:endParaRPr lang="en-US"/>
          </a:p>
        </p:txBody>
      </p:sp>
    </p:spTree>
    <p:extLst>
      <p:ext uri="{BB962C8B-B14F-4D97-AF65-F5344CB8AC3E}">
        <p14:creationId xmlns:p14="http://schemas.microsoft.com/office/powerpoint/2010/main" val="1366169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TAAS Architectures and Functional Paradigms</a:t>
            </a:r>
          </a:p>
        </p:txBody>
      </p:sp>
      <p:sp>
        <p:nvSpPr>
          <p:cNvPr id="3" name="Content Placeholder 2"/>
          <p:cNvSpPr>
            <a:spLocks noGrp="1"/>
          </p:cNvSpPr>
          <p:nvPr>
            <p:ph idx="1"/>
          </p:nvPr>
        </p:nvSpPr>
        <p:spPr/>
        <p:txBody>
          <a:bodyPr/>
          <a:lstStyle/>
          <a:p>
            <a:pPr lvl="0"/>
            <a:r>
              <a:rPr lang="en-US" dirty="0"/>
              <a:t>Classic architecture of systems.</a:t>
            </a:r>
          </a:p>
          <a:p>
            <a:pPr lvl="0"/>
            <a:r>
              <a:rPr lang="en-US" dirty="0"/>
              <a:t>Constellation architecture</a:t>
            </a:r>
          </a:p>
          <a:p>
            <a:pPr lvl="0"/>
            <a:r>
              <a:rPr lang="en-US" dirty="0"/>
              <a:t>Software architecture</a:t>
            </a:r>
          </a:p>
          <a:p>
            <a:pPr lvl="0"/>
            <a:r>
              <a:rPr lang="en-US" dirty="0"/>
              <a:t>Hierarchical knowledge management architecture.</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12</a:t>
            </a:fld>
            <a:endParaRPr lang="en-US"/>
          </a:p>
        </p:txBody>
      </p:sp>
    </p:spTree>
    <p:extLst>
      <p:ext uri="{BB962C8B-B14F-4D97-AF65-F5344CB8AC3E}">
        <p14:creationId xmlns:p14="http://schemas.microsoft.com/office/powerpoint/2010/main" val="1375529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2605089" y="274638"/>
            <a:ext cx="7724775" cy="1143000"/>
          </a:xfrm>
        </p:spPr>
        <p:txBody>
          <a:bodyPr>
            <a:normAutofit fontScale="90000"/>
          </a:bodyPr>
          <a:lstStyle/>
          <a:p>
            <a:pPr eaLnBrk="1" hangingPunct="1"/>
            <a:r>
              <a:rPr lang="en-US" sz="4000"/>
              <a:t>Classic architecture describing how systems are built</a:t>
            </a:r>
          </a:p>
        </p:txBody>
      </p:sp>
      <p:sp>
        <p:nvSpPr>
          <p:cNvPr id="2052" name="Rectangle 5"/>
          <p:cNvSpPr>
            <a:spLocks noChangeArrowheads="1"/>
          </p:cNvSpPr>
          <p:nvPr/>
        </p:nvSpPr>
        <p:spPr bwMode="auto">
          <a:xfrm>
            <a:off x="1524001" y="1839397"/>
            <a:ext cx="184731" cy="369332"/>
          </a:xfrm>
          <a:prstGeom prst="rect">
            <a:avLst/>
          </a:prstGeom>
          <a:noFill/>
          <a:ln w="9525">
            <a:noFill/>
            <a:miter lim="800000"/>
            <a:headEnd/>
            <a:tailEnd/>
          </a:ln>
        </p:spPr>
        <p:txBody>
          <a:bodyPr wrap="none" anchor="ctr">
            <a:spAutoFit/>
          </a:bodyPr>
          <a:lstStyle/>
          <a:p>
            <a:endParaRPr lang="en-US"/>
          </a:p>
        </p:txBody>
      </p:sp>
      <p:graphicFrame>
        <p:nvGraphicFramePr>
          <p:cNvPr id="2050" name="Object 4"/>
          <p:cNvGraphicFramePr>
            <a:graphicFrameLocks noChangeAspect="1"/>
          </p:cNvGraphicFramePr>
          <p:nvPr/>
        </p:nvGraphicFramePr>
        <p:xfrm>
          <a:off x="1524000" y="2024063"/>
          <a:ext cx="9144000" cy="4322762"/>
        </p:xfrm>
        <a:graphic>
          <a:graphicData uri="http://schemas.openxmlformats.org/presentationml/2006/ole">
            <mc:AlternateContent xmlns:mc="http://schemas.openxmlformats.org/markup-compatibility/2006">
              <mc:Choice xmlns:v="urn:schemas-microsoft-com:vml" Requires="v">
                <p:oleObj name="Picture" r:id="rId2" imgW="6015761" imgH="2837542" progId="Word.Picture.8">
                  <p:embed/>
                </p:oleObj>
              </mc:Choice>
              <mc:Fallback>
                <p:oleObj name="Picture" r:id="rId2" imgW="6015761" imgH="2837542"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024063"/>
                        <a:ext cx="9144000" cy="432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54500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Hierarchical Distributed Autonomous Control Architecture</a:t>
            </a:r>
          </a:p>
        </p:txBody>
      </p:sp>
      <p:sp>
        <p:nvSpPr>
          <p:cNvPr id="4" name="Slide Number Placeholder 3"/>
          <p:cNvSpPr>
            <a:spLocks noGrp="1"/>
          </p:cNvSpPr>
          <p:nvPr>
            <p:ph type="sldNum" sz="quarter" idx="12"/>
          </p:nvPr>
        </p:nvSpPr>
        <p:spPr/>
        <p:txBody>
          <a:bodyPr/>
          <a:lstStyle/>
          <a:p>
            <a:fld id="{0267D5B8-E44A-4D0F-96C7-902652BCFAA0}" type="slidenum">
              <a:rPr lang="en-US" smtClean="0"/>
              <a:t>14</a:t>
            </a:fld>
            <a:endParaRPr lang="en-US"/>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28800" y="1846556"/>
            <a:ext cx="7434543" cy="4874919"/>
          </a:xfrm>
          <a:prstGeom prst="rect">
            <a:avLst/>
          </a:prstGeom>
        </p:spPr>
      </p:pic>
    </p:spTree>
    <p:extLst>
      <p:ext uri="{BB962C8B-B14F-4D97-AF65-F5344CB8AC3E}">
        <p14:creationId xmlns:p14="http://schemas.microsoft.com/office/powerpoint/2010/main" val="1187890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2736850" y="0"/>
            <a:ext cx="7931150" cy="1143000"/>
          </a:xfrm>
        </p:spPr>
        <p:txBody>
          <a:bodyPr/>
          <a:lstStyle/>
          <a:p>
            <a:pPr algn="ctr" eaLnBrk="1" hangingPunct="1"/>
            <a:r>
              <a:rPr lang="en-US" sz="2800" dirty="0"/>
              <a:t>Data, Information, and Knowledge Management Architecture for ISHM</a:t>
            </a:r>
          </a:p>
        </p:txBody>
      </p:sp>
      <p:sp>
        <p:nvSpPr>
          <p:cNvPr id="1028" name="Rectangle 3"/>
          <p:cNvSpPr>
            <a:spLocks noChangeArrowheads="1"/>
          </p:cNvSpPr>
          <p:nvPr/>
        </p:nvSpPr>
        <p:spPr bwMode="auto">
          <a:xfrm>
            <a:off x="1524001" y="2348984"/>
            <a:ext cx="184731" cy="369332"/>
          </a:xfrm>
          <a:prstGeom prst="rect">
            <a:avLst/>
          </a:prstGeom>
          <a:noFill/>
          <a:ln w="9525">
            <a:noFill/>
            <a:miter lim="800000"/>
            <a:headEnd/>
            <a:tailEnd/>
          </a:ln>
        </p:spPr>
        <p:txBody>
          <a:bodyPr wrap="none" anchor="ctr">
            <a:spAutoFit/>
          </a:bodyPr>
          <a:lstStyle/>
          <a:p>
            <a:endParaRPr lang="en-US"/>
          </a:p>
        </p:txBody>
      </p:sp>
      <p:sp>
        <p:nvSpPr>
          <p:cNvPr id="1029" name="Rectangle 6"/>
          <p:cNvSpPr>
            <a:spLocks noChangeArrowheads="1"/>
          </p:cNvSpPr>
          <p:nvPr/>
        </p:nvSpPr>
        <p:spPr bwMode="auto">
          <a:xfrm>
            <a:off x="1524001" y="1696522"/>
            <a:ext cx="184731" cy="369332"/>
          </a:xfrm>
          <a:prstGeom prst="rect">
            <a:avLst/>
          </a:prstGeom>
          <a:noFill/>
          <a:ln w="9525">
            <a:noFill/>
            <a:miter lim="800000"/>
            <a:headEnd/>
            <a:tailEnd/>
          </a:ln>
        </p:spPr>
        <p:txBody>
          <a:bodyPr wrap="none" anchor="ctr">
            <a:spAutoFit/>
          </a:bodyPr>
          <a:lstStyle/>
          <a:p>
            <a:endParaRPr lang="en-US"/>
          </a:p>
        </p:txBody>
      </p:sp>
      <p:graphicFrame>
        <p:nvGraphicFramePr>
          <p:cNvPr id="1026" name="Object 5"/>
          <p:cNvGraphicFramePr>
            <a:graphicFrameLocks noChangeAspect="1"/>
          </p:cNvGraphicFramePr>
          <p:nvPr/>
        </p:nvGraphicFramePr>
        <p:xfrm>
          <a:off x="1044576" y="1463675"/>
          <a:ext cx="9618663" cy="5384800"/>
        </p:xfrm>
        <a:graphic>
          <a:graphicData uri="http://schemas.openxmlformats.org/presentationml/2006/ole">
            <mc:AlternateContent xmlns:mc="http://schemas.openxmlformats.org/markup-compatibility/2006">
              <mc:Choice xmlns:v="urn:schemas-microsoft-com:vml" Requires="v">
                <p:oleObj name="Picture" r:id="rId2" imgW="5514840" imgH="3095640" progId="Word.Picture.8">
                  <p:embed/>
                </p:oleObj>
              </mc:Choice>
              <mc:Fallback>
                <p:oleObj name="Picture" r:id="rId2" imgW="5514840" imgH="3095640"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6" y="1463675"/>
                        <a:ext cx="9618663" cy="538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62648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6C7F4-63AB-3B39-60EE-CE1243E9B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12715-F0C4-CC96-F573-25CAEC06E830}"/>
              </a:ext>
            </a:extLst>
          </p:cNvPr>
          <p:cNvSpPr>
            <a:spLocks noGrp="1"/>
          </p:cNvSpPr>
          <p:nvPr>
            <p:ph type="title"/>
          </p:nvPr>
        </p:nvSpPr>
        <p:spPr/>
        <p:txBody>
          <a:bodyPr/>
          <a:lstStyle/>
          <a:p>
            <a:r>
              <a:rPr lang="en-US" dirty="0"/>
              <a:t>Autonomous Systems Constellation Architecture</a:t>
            </a:r>
          </a:p>
        </p:txBody>
      </p:sp>
      <p:sp>
        <p:nvSpPr>
          <p:cNvPr id="3" name="TextBox 2">
            <a:extLst>
              <a:ext uri="{FF2B5EF4-FFF2-40B4-BE49-F238E27FC236}">
                <a16:creationId xmlns:a16="http://schemas.microsoft.com/office/drawing/2014/main" id="{274D0ACD-CDD8-C286-C1B7-F3C8BCEE5466}"/>
              </a:ext>
            </a:extLst>
          </p:cNvPr>
          <p:cNvSpPr txBox="1"/>
          <p:nvPr/>
        </p:nvSpPr>
        <p:spPr>
          <a:xfrm>
            <a:off x="571500" y="2579913"/>
            <a:ext cx="2400300" cy="3416320"/>
          </a:xfrm>
          <a:prstGeom prst="rect">
            <a:avLst/>
          </a:prstGeom>
          <a:noFill/>
        </p:spPr>
        <p:txBody>
          <a:bodyPr wrap="square" rtlCol="0">
            <a:spAutoFit/>
          </a:bodyPr>
          <a:lstStyle/>
          <a:p>
            <a:r>
              <a:rPr lang="en-US" dirty="0"/>
              <a:t>Thought System is  where:</a:t>
            </a:r>
          </a:p>
          <a:p>
            <a:pPr marL="285750" indent="-285750">
              <a:buFont typeface="Arial" panose="020B0604020202020204" pitchFamily="34" charset="0"/>
              <a:buChar char="•"/>
            </a:pPr>
            <a:r>
              <a:rPr lang="en-US" dirty="0"/>
              <a:t>communication is controlled</a:t>
            </a:r>
          </a:p>
          <a:p>
            <a:pPr marL="285750" indent="-285750">
              <a:buFont typeface="Arial" panose="020B0604020202020204" pitchFamily="34" charset="0"/>
              <a:buChar char="•"/>
            </a:pPr>
            <a:r>
              <a:rPr lang="en-US" dirty="0"/>
              <a:t>The thinking begins.</a:t>
            </a:r>
          </a:p>
          <a:p>
            <a:pPr marL="285750" indent="-285750">
              <a:buFont typeface="Arial" panose="020B0604020202020204" pitchFamily="34" charset="0"/>
              <a:buChar char="•"/>
            </a:pPr>
            <a:r>
              <a:rPr lang="en-US" dirty="0"/>
              <a:t>Thought activity is monitored.</a:t>
            </a:r>
          </a:p>
          <a:p>
            <a:pPr marL="285750" indent="-285750">
              <a:buFont typeface="Arial" panose="020B0604020202020204" pitchFamily="34" charset="0"/>
              <a:buChar char="•"/>
            </a:pPr>
            <a:r>
              <a:rPr lang="en-US" dirty="0"/>
              <a:t>Contemplation, consideration, and self-awareness/self-consciousness takes place.</a:t>
            </a:r>
          </a:p>
        </p:txBody>
      </p:sp>
      <p:sp>
        <p:nvSpPr>
          <p:cNvPr id="5" name="TextBox 4">
            <a:extLst>
              <a:ext uri="{FF2B5EF4-FFF2-40B4-BE49-F238E27FC236}">
                <a16:creationId xmlns:a16="http://schemas.microsoft.com/office/drawing/2014/main" id="{26398872-EB6E-705D-E70A-799E7AEC8231}"/>
              </a:ext>
            </a:extLst>
          </p:cNvPr>
          <p:cNvSpPr txBox="1"/>
          <p:nvPr/>
        </p:nvSpPr>
        <p:spPr>
          <a:xfrm>
            <a:off x="8850086" y="2171699"/>
            <a:ext cx="280851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External Communication Network: Sensory and information input coming from outside the system.</a:t>
            </a:r>
          </a:p>
          <a:p>
            <a:pPr marL="285750" indent="-285750">
              <a:buFont typeface="Arial" panose="020B0604020202020204" pitchFamily="34" charset="0"/>
              <a:buChar char="•"/>
            </a:pPr>
            <a:r>
              <a:rPr lang="en-US" dirty="0"/>
              <a:t>Internal Communication Network: transactions among the constellations systems and the Nexus (Thought System).</a:t>
            </a:r>
          </a:p>
        </p:txBody>
      </p:sp>
      <p:cxnSp>
        <p:nvCxnSpPr>
          <p:cNvPr id="54" name="Straight Arrow Connector 53">
            <a:extLst>
              <a:ext uri="{FF2B5EF4-FFF2-40B4-BE49-F238E27FC236}">
                <a16:creationId xmlns:a16="http://schemas.microsoft.com/office/drawing/2014/main" id="{225B1D21-DDE2-B2AD-A63E-EF835C7D6052}"/>
              </a:ext>
            </a:extLst>
          </p:cNvPr>
          <p:cNvCxnSpPr/>
          <p:nvPr/>
        </p:nvCxnSpPr>
        <p:spPr>
          <a:xfrm flipH="1">
            <a:off x="4481814" y="5676982"/>
            <a:ext cx="209191" cy="374413"/>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23E726E-704A-7F51-58D1-F1A35121A663}"/>
              </a:ext>
            </a:extLst>
          </p:cNvPr>
          <p:cNvSpPr txBox="1"/>
          <p:nvPr/>
        </p:nvSpPr>
        <p:spPr>
          <a:xfrm>
            <a:off x="1891329" y="7036217"/>
            <a:ext cx="8966429" cy="369332"/>
          </a:xfrm>
          <a:prstGeom prst="rect">
            <a:avLst/>
          </a:prstGeom>
          <a:noFill/>
        </p:spPr>
        <p:txBody>
          <a:bodyPr wrap="none" rtlCol="0">
            <a:spAutoFit/>
          </a:bodyPr>
          <a:lstStyle/>
          <a:p>
            <a:r>
              <a:rPr lang="en-US" dirty="0"/>
              <a:t>All thinking is a function of communication (language) among the systems of the constellation</a:t>
            </a:r>
          </a:p>
        </p:txBody>
      </p:sp>
      <p:sp>
        <p:nvSpPr>
          <p:cNvPr id="4" name="Slide Number Placeholder 3">
            <a:extLst>
              <a:ext uri="{FF2B5EF4-FFF2-40B4-BE49-F238E27FC236}">
                <a16:creationId xmlns:a16="http://schemas.microsoft.com/office/drawing/2014/main" id="{94D0D261-2DBF-6AD3-7132-771A4742753B}"/>
              </a:ext>
            </a:extLst>
          </p:cNvPr>
          <p:cNvSpPr>
            <a:spLocks noGrp="1"/>
          </p:cNvSpPr>
          <p:nvPr>
            <p:ph type="sldNum" sz="quarter" idx="12"/>
          </p:nvPr>
        </p:nvSpPr>
        <p:spPr/>
        <p:txBody>
          <a:bodyPr/>
          <a:lstStyle/>
          <a:p>
            <a:fld id="{0267D5B8-E44A-4D0F-96C7-902652BCFAA0}" type="slidenum">
              <a:rPr lang="en-US" smtClean="0"/>
              <a:t>16</a:t>
            </a:fld>
            <a:endParaRPr lang="en-US"/>
          </a:p>
        </p:txBody>
      </p:sp>
      <p:grpSp>
        <p:nvGrpSpPr>
          <p:cNvPr id="16" name="Group 15">
            <a:extLst>
              <a:ext uri="{FF2B5EF4-FFF2-40B4-BE49-F238E27FC236}">
                <a16:creationId xmlns:a16="http://schemas.microsoft.com/office/drawing/2014/main" id="{26B0D048-CEDC-F65B-53FB-8DFAC4C0F8C7}"/>
              </a:ext>
            </a:extLst>
          </p:cNvPr>
          <p:cNvGrpSpPr/>
          <p:nvPr/>
        </p:nvGrpSpPr>
        <p:grpSpPr>
          <a:xfrm>
            <a:off x="2900515" y="1027905"/>
            <a:ext cx="6637205" cy="5464969"/>
            <a:chOff x="2195763" y="796761"/>
            <a:chExt cx="7800474" cy="5264478"/>
          </a:xfrm>
        </p:grpSpPr>
        <p:pic>
          <p:nvPicPr>
            <p:cNvPr id="20" name="Picture 19">
              <a:extLst>
                <a:ext uri="{FF2B5EF4-FFF2-40B4-BE49-F238E27FC236}">
                  <a16:creationId xmlns:a16="http://schemas.microsoft.com/office/drawing/2014/main" id="{E1235476-B2BF-4516-7B46-9ECB96F18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63" y="963846"/>
              <a:ext cx="5699381" cy="5084146"/>
            </a:xfrm>
            <a:prstGeom prst="rect">
              <a:avLst/>
            </a:prstGeom>
          </p:spPr>
        </p:pic>
        <p:pic>
          <p:nvPicPr>
            <p:cNvPr id="22" name="Picture 21">
              <a:extLst>
                <a:ext uri="{FF2B5EF4-FFF2-40B4-BE49-F238E27FC236}">
                  <a16:creationId xmlns:a16="http://schemas.microsoft.com/office/drawing/2014/main" id="{D7325C30-BCE2-F838-5722-8794C6CE659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7938" y="796761"/>
              <a:ext cx="7378299" cy="5264478"/>
            </a:xfrm>
            <a:prstGeom prst="rect">
              <a:avLst/>
            </a:prstGeom>
            <a:noFill/>
          </p:spPr>
        </p:pic>
      </p:grpSp>
    </p:spTree>
    <p:extLst>
      <p:ext uri="{BB962C8B-B14F-4D97-AF65-F5344CB8AC3E}">
        <p14:creationId xmlns:p14="http://schemas.microsoft.com/office/powerpoint/2010/main" val="3807261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Autonomous System (TAS)</a:t>
            </a:r>
          </a:p>
        </p:txBody>
      </p:sp>
      <p:sp>
        <p:nvSpPr>
          <p:cNvPr id="3" name="Content Placeholder 2"/>
          <p:cNvSpPr>
            <a:spLocks noGrp="1"/>
          </p:cNvSpPr>
          <p:nvPr>
            <p:ph idx="1"/>
          </p:nvPr>
        </p:nvSpPr>
        <p:spPr/>
        <p:txBody>
          <a:bodyPr/>
          <a:lstStyle/>
          <a:p>
            <a:r>
              <a:rPr lang="en-US" dirty="0"/>
              <a:t>An TAS must be able to “think” and to be “self-aware.”</a:t>
            </a:r>
          </a:p>
          <a:p>
            <a:r>
              <a:rPr lang="en-US" dirty="0"/>
              <a:t>Construction of a TAS is not a trivial matter, it can’t be done by an individual or even by a small group of computer scientists. A TAS can only be achieved as a large-scale project.</a:t>
            </a:r>
          </a:p>
          <a:p>
            <a:r>
              <a:rPr lang="en-US" dirty="0"/>
              <a:t>Must use an architecture model for a system that is able to think and be self-aware.</a:t>
            </a:r>
          </a:p>
          <a:p>
            <a:endParaRPr lang="en-US" dirty="0"/>
          </a:p>
        </p:txBody>
      </p:sp>
      <p:sp>
        <p:nvSpPr>
          <p:cNvPr id="6" name="TextBox 5"/>
          <p:cNvSpPr txBox="1"/>
          <p:nvPr/>
        </p:nvSpPr>
        <p:spPr>
          <a:xfrm>
            <a:off x="1329018" y="6211669"/>
            <a:ext cx="9533963" cy="646331"/>
          </a:xfrm>
          <a:prstGeom prst="rect">
            <a:avLst/>
          </a:prstGeom>
          <a:noFill/>
        </p:spPr>
        <p:txBody>
          <a:bodyPr wrap="square" rtlCol="0">
            <a:spAutoFit/>
          </a:bodyPr>
          <a:lstStyle/>
          <a:p>
            <a:pPr lvl="1"/>
            <a:r>
              <a:rPr lang="en-US"/>
              <a:t>Source: The Autonomous System: A Foundational Synthesis of the Sciences of the Mind, by Szabolcs Michael de Gyurky, Mark A. Tarbell, John Wiley &amp; Sons, Oct 8, 2013.</a:t>
            </a:r>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17</a:t>
            </a:fld>
            <a:endParaRPr lang="en-US"/>
          </a:p>
        </p:txBody>
      </p:sp>
    </p:spTree>
    <p:extLst>
      <p:ext uri="{BB962C8B-B14F-4D97-AF65-F5344CB8AC3E}">
        <p14:creationId xmlns:p14="http://schemas.microsoft.com/office/powerpoint/2010/main" val="3665945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Thinking Autonomous System (TAS) Continued</a:t>
            </a:r>
          </a:p>
        </p:txBody>
      </p:sp>
      <p:sp>
        <p:nvSpPr>
          <p:cNvPr id="3" name="Content Placeholder 2"/>
          <p:cNvSpPr>
            <a:spLocks noGrp="1"/>
          </p:cNvSpPr>
          <p:nvPr>
            <p:ph idx="1"/>
          </p:nvPr>
        </p:nvSpPr>
        <p:spPr/>
        <p:txBody>
          <a:bodyPr/>
          <a:lstStyle/>
          <a:p>
            <a:r>
              <a:rPr lang="en-US" dirty="0"/>
              <a:t>Architecture of the cognitive functions of an AS.</a:t>
            </a:r>
          </a:p>
          <a:p>
            <a:r>
              <a:rPr lang="en-US" dirty="0"/>
              <a:t>Must be in sufficient detail so that an engineering team may start a requirements and design process.</a:t>
            </a:r>
          </a:p>
          <a:p>
            <a:r>
              <a:rPr lang="en-US" dirty="0"/>
              <a:t>Difficult: organization of the team and strict adherence to a software management standard.</a:t>
            </a:r>
          </a:p>
          <a:p>
            <a:r>
              <a:rPr lang="en-US" dirty="0"/>
              <a:t>Design articulation:</a:t>
            </a:r>
          </a:p>
          <a:p>
            <a:pPr lvl="1"/>
            <a:r>
              <a:rPr lang="en-US" dirty="0"/>
              <a:t>Acceptable reality: a project is ready for implementation.</a:t>
            </a:r>
          </a:p>
        </p:txBody>
      </p:sp>
      <p:sp>
        <p:nvSpPr>
          <p:cNvPr id="4" name="Slide Number Placeholder 3"/>
          <p:cNvSpPr>
            <a:spLocks noGrp="1"/>
          </p:cNvSpPr>
          <p:nvPr>
            <p:ph type="sldNum" sz="quarter" idx="12"/>
          </p:nvPr>
        </p:nvSpPr>
        <p:spPr/>
        <p:txBody>
          <a:bodyPr/>
          <a:lstStyle/>
          <a:p>
            <a:fld id="{0267D5B8-E44A-4D0F-96C7-902652BCFAA0}" type="slidenum">
              <a:rPr lang="en-US" smtClean="0"/>
              <a:t>18</a:t>
            </a:fld>
            <a:endParaRPr lang="en-US"/>
          </a:p>
        </p:txBody>
      </p:sp>
    </p:spTree>
    <p:extLst>
      <p:ext uri="{BB962C8B-B14F-4D97-AF65-F5344CB8AC3E}">
        <p14:creationId xmlns:p14="http://schemas.microsoft.com/office/powerpoint/2010/main" val="4209966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a:t>
            </a:r>
          </a:p>
        </p:txBody>
      </p:sp>
      <p:sp>
        <p:nvSpPr>
          <p:cNvPr id="3" name="Content Placeholder 2"/>
          <p:cNvSpPr>
            <a:spLocks noGrp="1"/>
          </p:cNvSpPr>
          <p:nvPr>
            <p:ph idx="1"/>
          </p:nvPr>
        </p:nvSpPr>
        <p:spPr/>
        <p:txBody>
          <a:bodyPr/>
          <a:lstStyle/>
          <a:p>
            <a:r>
              <a:rPr lang="en-US" dirty="0"/>
              <a:t>The object is not a system with subsystems, but a constellation of nearly independent unique systems.</a:t>
            </a:r>
          </a:p>
          <a:p>
            <a:r>
              <a:rPr lang="en-US" dirty="0"/>
              <a:t>Functionality that must be supported by the architecture:</a:t>
            </a:r>
          </a:p>
          <a:p>
            <a:pPr lvl="1"/>
            <a:r>
              <a:rPr lang="en-US" dirty="0"/>
              <a:t>The TAS must be able to think and contemplate. Must receive instructions, learn, be receptive to instructions and orders, and carry them out. Must be able to make rational decisions without human input, and act upon those decisions. Must be able to communicate in the HUMAN LANGUAGE with people and other autonomous systems; and among its own internal systems.</a:t>
            </a:r>
          </a:p>
        </p:txBody>
      </p:sp>
      <p:sp>
        <p:nvSpPr>
          <p:cNvPr id="4" name="Slide Number Placeholder 3"/>
          <p:cNvSpPr>
            <a:spLocks noGrp="1"/>
          </p:cNvSpPr>
          <p:nvPr>
            <p:ph type="sldNum" sz="quarter" idx="12"/>
          </p:nvPr>
        </p:nvSpPr>
        <p:spPr/>
        <p:txBody>
          <a:bodyPr/>
          <a:lstStyle/>
          <a:p>
            <a:fld id="{0267D5B8-E44A-4D0F-96C7-902652BCFAA0}" type="slidenum">
              <a:rPr lang="en-US" smtClean="0"/>
              <a:t>19</a:t>
            </a:fld>
            <a:endParaRPr lang="en-US"/>
          </a:p>
        </p:txBody>
      </p:sp>
    </p:spTree>
    <p:extLst>
      <p:ext uri="{BB962C8B-B14F-4D97-AF65-F5344CB8AC3E}">
        <p14:creationId xmlns:p14="http://schemas.microsoft.com/office/powerpoint/2010/main" val="1900500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Autonomous Systems Constellation Architecture</a:t>
            </a:r>
          </a:p>
        </p:txBody>
      </p:sp>
      <p:sp>
        <p:nvSpPr>
          <p:cNvPr id="3" name="TextBox 2"/>
          <p:cNvSpPr txBox="1"/>
          <p:nvPr/>
        </p:nvSpPr>
        <p:spPr>
          <a:xfrm>
            <a:off x="571500" y="2579913"/>
            <a:ext cx="2400300" cy="3416320"/>
          </a:xfrm>
          <a:prstGeom prst="rect">
            <a:avLst/>
          </a:prstGeom>
          <a:noFill/>
        </p:spPr>
        <p:txBody>
          <a:bodyPr wrap="square" rtlCol="0">
            <a:spAutoFit/>
          </a:bodyPr>
          <a:lstStyle/>
          <a:p>
            <a:r>
              <a:rPr lang="en-US" dirty="0"/>
              <a:t>Thought System is  where:</a:t>
            </a:r>
          </a:p>
          <a:p>
            <a:pPr marL="285750" indent="-285750">
              <a:buFont typeface="Arial" panose="020B0604020202020204" pitchFamily="34" charset="0"/>
              <a:buChar char="•"/>
            </a:pPr>
            <a:r>
              <a:rPr lang="en-US" dirty="0"/>
              <a:t>communication is controlled</a:t>
            </a:r>
          </a:p>
          <a:p>
            <a:pPr marL="285750" indent="-285750">
              <a:buFont typeface="Arial" panose="020B0604020202020204" pitchFamily="34" charset="0"/>
              <a:buChar char="•"/>
            </a:pPr>
            <a:r>
              <a:rPr lang="en-US" dirty="0"/>
              <a:t>The thinking begins.</a:t>
            </a:r>
          </a:p>
          <a:p>
            <a:pPr marL="285750" indent="-285750">
              <a:buFont typeface="Arial" panose="020B0604020202020204" pitchFamily="34" charset="0"/>
              <a:buChar char="•"/>
            </a:pPr>
            <a:r>
              <a:rPr lang="en-US" dirty="0"/>
              <a:t>Thought activity is monitored.</a:t>
            </a:r>
          </a:p>
          <a:p>
            <a:pPr marL="285750" indent="-285750">
              <a:buFont typeface="Arial" panose="020B0604020202020204" pitchFamily="34" charset="0"/>
              <a:buChar char="•"/>
            </a:pPr>
            <a:r>
              <a:rPr lang="en-US" dirty="0"/>
              <a:t>Contemplation, consideration, and self-awareness/self-consciousness takes place.</a:t>
            </a:r>
          </a:p>
        </p:txBody>
      </p:sp>
      <p:sp>
        <p:nvSpPr>
          <p:cNvPr id="5" name="TextBox 4"/>
          <p:cNvSpPr txBox="1"/>
          <p:nvPr/>
        </p:nvSpPr>
        <p:spPr>
          <a:xfrm>
            <a:off x="8850086" y="2171699"/>
            <a:ext cx="280851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External Communication Network: Sensory and information input coming from outside the system.</a:t>
            </a:r>
          </a:p>
          <a:p>
            <a:pPr marL="285750" indent="-285750">
              <a:buFont typeface="Arial" panose="020B0604020202020204" pitchFamily="34" charset="0"/>
              <a:buChar char="•"/>
            </a:pPr>
            <a:r>
              <a:rPr lang="en-US" dirty="0"/>
              <a:t>Internal Communication Network: transactions among the constellations systems and the Nexus (Thought System).</a:t>
            </a:r>
          </a:p>
        </p:txBody>
      </p:sp>
      <p:grpSp>
        <p:nvGrpSpPr>
          <p:cNvPr id="20" name="Group 19">
            <a:extLst>
              <a:ext uri="{FF2B5EF4-FFF2-40B4-BE49-F238E27FC236}">
                <a16:creationId xmlns:a16="http://schemas.microsoft.com/office/drawing/2014/main" id="{BEC35415-8A7D-A3CD-04CE-0A05BD2D4F5E}"/>
              </a:ext>
            </a:extLst>
          </p:cNvPr>
          <p:cNvGrpSpPr/>
          <p:nvPr/>
        </p:nvGrpSpPr>
        <p:grpSpPr>
          <a:xfrm>
            <a:off x="2928233" y="1750333"/>
            <a:ext cx="5921852" cy="16648985"/>
            <a:chOff x="2928233" y="1750333"/>
            <a:chExt cx="5921852" cy="16648985"/>
          </a:xfrm>
        </p:grpSpPr>
        <p:sp>
          <p:nvSpPr>
            <p:cNvPr id="18" name="Rectangle 17"/>
            <p:cNvSpPr/>
            <p:nvPr/>
          </p:nvSpPr>
          <p:spPr>
            <a:xfrm>
              <a:off x="3134347" y="3284599"/>
              <a:ext cx="5478165" cy="15114719"/>
            </a:xfrm>
            <a:prstGeom prst="rect">
              <a:avLst/>
            </a:prstGeom>
            <a:noFill/>
          </p:spPr>
          <p:txBody>
            <a:bodyPr wrap="none" lIns="91440" tIns="45720" rIns="91440" bIns="45720">
              <a:prstTxWarp prst="textArchUp">
                <a:avLst>
                  <a:gd name="adj" fmla="val 10661232"/>
                </a:avLst>
              </a:prstTxWarp>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Internal Communication Network</a:t>
              </a:r>
            </a:p>
          </p:txBody>
        </p:sp>
        <p:grpSp>
          <p:nvGrpSpPr>
            <p:cNvPr id="16" name="Group 15">
              <a:extLst>
                <a:ext uri="{FF2B5EF4-FFF2-40B4-BE49-F238E27FC236}">
                  <a16:creationId xmlns:a16="http://schemas.microsoft.com/office/drawing/2014/main" id="{5AF27A21-1243-6EF9-E4B8-2DB0E3FCF3CD}"/>
                </a:ext>
              </a:extLst>
            </p:cNvPr>
            <p:cNvGrpSpPr/>
            <p:nvPr/>
          </p:nvGrpSpPr>
          <p:grpSpPr>
            <a:xfrm>
              <a:off x="2928233" y="1750333"/>
              <a:ext cx="5921852" cy="4724845"/>
              <a:chOff x="2928233" y="1750333"/>
              <a:chExt cx="5921852" cy="4724845"/>
            </a:xfrm>
          </p:grpSpPr>
          <p:sp>
            <p:nvSpPr>
              <p:cNvPr id="7" name="Oval 6"/>
              <p:cNvSpPr/>
              <p:nvPr/>
            </p:nvSpPr>
            <p:spPr>
              <a:xfrm>
                <a:off x="5359179" y="2340390"/>
                <a:ext cx="1105326"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Will System</a:t>
                </a:r>
              </a:p>
            </p:txBody>
          </p:sp>
          <p:sp>
            <p:nvSpPr>
              <p:cNvPr id="8" name="Oval 7"/>
              <p:cNvSpPr/>
              <p:nvPr/>
            </p:nvSpPr>
            <p:spPr>
              <a:xfrm>
                <a:off x="6704369" y="2850599"/>
                <a:ext cx="1105326"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Intellect System</a:t>
                </a:r>
              </a:p>
            </p:txBody>
          </p:sp>
          <p:sp>
            <p:nvSpPr>
              <p:cNvPr id="9" name="Oval 8"/>
              <p:cNvSpPr/>
              <p:nvPr/>
            </p:nvSpPr>
            <p:spPr>
              <a:xfrm>
                <a:off x="6912323" y="4149573"/>
                <a:ext cx="1641069" cy="6378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Understanding System</a:t>
                </a:r>
              </a:p>
            </p:txBody>
          </p:sp>
          <p:sp>
            <p:nvSpPr>
              <p:cNvPr id="10" name="Oval 9"/>
              <p:cNvSpPr/>
              <p:nvPr/>
            </p:nvSpPr>
            <p:spPr>
              <a:xfrm>
                <a:off x="6064289" y="5061972"/>
                <a:ext cx="1249620"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Decision System</a:t>
                </a:r>
              </a:p>
            </p:txBody>
          </p:sp>
          <p:sp>
            <p:nvSpPr>
              <p:cNvPr id="11" name="Oval 10"/>
              <p:cNvSpPr/>
              <p:nvPr/>
            </p:nvSpPr>
            <p:spPr>
              <a:xfrm>
                <a:off x="4527747" y="5061972"/>
                <a:ext cx="1105326"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Sensory System</a:t>
                </a:r>
              </a:p>
            </p:txBody>
          </p:sp>
          <p:sp>
            <p:nvSpPr>
              <p:cNvPr id="12" name="Oval 11"/>
              <p:cNvSpPr/>
              <p:nvPr/>
            </p:nvSpPr>
            <p:spPr>
              <a:xfrm>
                <a:off x="3181956" y="4151926"/>
                <a:ext cx="1652546"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Presentation System</a:t>
                </a:r>
              </a:p>
            </p:txBody>
          </p:sp>
          <p:sp>
            <p:nvSpPr>
              <p:cNvPr id="13" name="Oval 12"/>
              <p:cNvSpPr/>
              <p:nvPr/>
            </p:nvSpPr>
            <p:spPr>
              <a:xfrm>
                <a:off x="3929151" y="2861213"/>
                <a:ext cx="1105326" cy="6758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Reason System</a:t>
                </a:r>
              </a:p>
            </p:txBody>
          </p:sp>
          <p:sp>
            <p:nvSpPr>
              <p:cNvPr id="14" name="Rounded Rectangle 13"/>
              <p:cNvSpPr/>
              <p:nvPr/>
            </p:nvSpPr>
            <p:spPr>
              <a:xfrm>
                <a:off x="5428157" y="3890307"/>
                <a:ext cx="890546" cy="5088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Thought System</a:t>
                </a:r>
              </a:p>
            </p:txBody>
          </p:sp>
          <p:sp>
            <p:nvSpPr>
              <p:cNvPr id="15" name="Oval 14"/>
              <p:cNvSpPr/>
              <p:nvPr/>
            </p:nvSpPr>
            <p:spPr>
              <a:xfrm>
                <a:off x="5023896" y="3441217"/>
                <a:ext cx="1706999" cy="14214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2971800" y="1946944"/>
                <a:ext cx="5878285" cy="440996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2928233" y="5951958"/>
                <a:ext cx="1599514" cy="523220"/>
              </a:xfrm>
              <a:prstGeom prst="rect">
                <a:avLst/>
              </a:prstGeom>
              <a:noFill/>
            </p:spPr>
            <p:txBody>
              <a:bodyPr wrap="square" rtlCol="0">
                <a:spAutoFit/>
              </a:bodyPr>
              <a:lstStyle/>
              <a:p>
                <a:pPr algn="ctr"/>
                <a:r>
                  <a:rPr lang="en-US" sz="1400" dirty="0"/>
                  <a:t>External Sensory Environment</a:t>
                </a:r>
              </a:p>
            </p:txBody>
          </p:sp>
          <p:cxnSp>
            <p:nvCxnSpPr>
              <p:cNvPr id="21" name="Straight Arrow Connector 20"/>
              <p:cNvCxnSpPr/>
              <p:nvPr/>
            </p:nvCxnSpPr>
            <p:spPr>
              <a:xfrm>
                <a:off x="4895568" y="3469053"/>
                <a:ext cx="286993" cy="224639"/>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5" idx="0"/>
                <a:endCxn id="14" idx="0"/>
              </p:cNvCxnSpPr>
              <p:nvPr/>
            </p:nvCxnSpPr>
            <p:spPr>
              <a:xfrm flipH="1">
                <a:off x="5873430" y="3441217"/>
                <a:ext cx="3966" cy="44909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171859" y="1750333"/>
                <a:ext cx="5478165" cy="3982324"/>
              </a:xfrm>
              <a:prstGeom prst="rect">
                <a:avLst/>
              </a:prstGeom>
              <a:noFill/>
            </p:spPr>
            <p:txBody>
              <a:bodyPr wrap="none" lIns="91440" tIns="45720" rIns="91440" bIns="45720">
                <a:prstTxWarp prst="textArchUp">
                  <a:avLst>
                    <a:gd name="adj" fmla="val 10661232"/>
                  </a:avLst>
                </a:prstTxWarp>
                <a:spAutoFit/>
              </a:bodyPr>
              <a:lstStyle/>
              <a:p>
                <a:pPr algn="ctr"/>
                <a:r>
                  <a:rPr lang="en-US" sz="1400" dirty="0">
                    <a:ln w="0"/>
                    <a:effectLst>
                      <a:outerShdw blurRad="38100" dist="19050" dir="2700000" algn="tl" rotWithShape="0">
                        <a:schemeClr val="dk1">
                          <a:alpha val="40000"/>
                        </a:schemeClr>
                      </a:outerShdw>
                    </a:effectLst>
                  </a:rPr>
                  <a:t>Ex</a:t>
                </a:r>
                <a:r>
                  <a:rPr lang="en-US" sz="1400" b="0" cap="none" spc="0" dirty="0">
                    <a:ln w="0"/>
                    <a:solidFill>
                      <a:schemeClr val="tx1"/>
                    </a:solidFill>
                    <a:effectLst>
                      <a:outerShdw blurRad="38100" dist="19050" dir="2700000" algn="tl" rotWithShape="0">
                        <a:schemeClr val="dk1">
                          <a:alpha val="40000"/>
                        </a:schemeClr>
                      </a:outerShdw>
                    </a:effectLst>
                  </a:rPr>
                  <a:t>ternal Communication Network</a:t>
                </a:r>
              </a:p>
            </p:txBody>
          </p:sp>
          <p:cxnSp>
            <p:nvCxnSpPr>
              <p:cNvPr id="31" name="Straight Arrow Connector 30"/>
              <p:cNvCxnSpPr>
                <a:stCxn id="7" idx="4"/>
                <a:endCxn id="15" idx="0"/>
              </p:cNvCxnSpPr>
              <p:nvPr/>
            </p:nvCxnSpPr>
            <p:spPr>
              <a:xfrm flipH="1">
                <a:off x="5877396" y="3016251"/>
                <a:ext cx="34446" cy="424966"/>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2" idx="6"/>
              </p:cNvCxnSpPr>
              <p:nvPr/>
            </p:nvCxnSpPr>
            <p:spPr>
              <a:xfrm flipV="1">
                <a:off x="4834502" y="4399190"/>
                <a:ext cx="214866" cy="90667"/>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5300623" y="4787405"/>
                <a:ext cx="127534" cy="275038"/>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318703" y="4787405"/>
                <a:ext cx="111682" cy="294104"/>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6712262" y="4391434"/>
                <a:ext cx="199641" cy="77055"/>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8" idx="3"/>
              </p:cNvCxnSpPr>
              <p:nvPr/>
            </p:nvCxnSpPr>
            <p:spPr>
              <a:xfrm flipV="1">
                <a:off x="6560872" y="3427482"/>
                <a:ext cx="305368" cy="297725"/>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13" idx="1"/>
              </p:cNvCxnSpPr>
              <p:nvPr/>
            </p:nvCxnSpPr>
            <p:spPr>
              <a:xfrm>
                <a:off x="3758041" y="2669747"/>
                <a:ext cx="332981" cy="290444"/>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endCxn id="12" idx="2"/>
              </p:cNvCxnSpPr>
              <p:nvPr/>
            </p:nvCxnSpPr>
            <p:spPr>
              <a:xfrm>
                <a:off x="3009312" y="4489856"/>
                <a:ext cx="172644" cy="1"/>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H="1">
                <a:off x="4481814" y="5676982"/>
                <a:ext cx="209191" cy="374413"/>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6784550" y="5751868"/>
                <a:ext cx="143497" cy="461700"/>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8571500" y="4470608"/>
                <a:ext cx="222440" cy="19248"/>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7732662" y="2678320"/>
                <a:ext cx="353701" cy="325775"/>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7" idx="0"/>
              </p:cNvCxnSpPr>
              <p:nvPr/>
            </p:nvCxnSpPr>
            <p:spPr>
              <a:xfrm>
                <a:off x="5873429" y="1959354"/>
                <a:ext cx="38413" cy="381036"/>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grpSp>
      </p:grpSp>
      <p:sp>
        <p:nvSpPr>
          <p:cNvPr id="6" name="TextBox 5"/>
          <p:cNvSpPr txBox="1"/>
          <p:nvPr/>
        </p:nvSpPr>
        <p:spPr>
          <a:xfrm>
            <a:off x="1891329" y="7036217"/>
            <a:ext cx="8966429" cy="369332"/>
          </a:xfrm>
          <a:prstGeom prst="rect">
            <a:avLst/>
          </a:prstGeom>
          <a:noFill/>
        </p:spPr>
        <p:txBody>
          <a:bodyPr wrap="none" rtlCol="0">
            <a:spAutoFit/>
          </a:bodyPr>
          <a:lstStyle/>
          <a:p>
            <a:r>
              <a:rPr lang="en-US" dirty="0"/>
              <a:t>All thinking is a function of communication (language) among the systems of the constellation</a:t>
            </a:r>
          </a:p>
        </p:txBody>
      </p:sp>
      <p:sp>
        <p:nvSpPr>
          <p:cNvPr id="4" name="Slide Number Placeholder 3"/>
          <p:cNvSpPr>
            <a:spLocks noGrp="1"/>
          </p:cNvSpPr>
          <p:nvPr>
            <p:ph type="sldNum" sz="quarter" idx="12"/>
          </p:nvPr>
        </p:nvSpPr>
        <p:spPr/>
        <p:txBody>
          <a:bodyPr/>
          <a:lstStyle/>
          <a:p>
            <a:fld id="{0267D5B8-E44A-4D0F-96C7-902652BCFAA0}" type="slidenum">
              <a:rPr lang="en-US" smtClean="0"/>
              <a:t>20</a:t>
            </a:fld>
            <a:endParaRPr lang="en-US"/>
          </a:p>
        </p:txBody>
      </p:sp>
    </p:spTree>
    <p:extLst>
      <p:ext uri="{BB962C8B-B14F-4D97-AF65-F5344CB8AC3E}">
        <p14:creationId xmlns:p14="http://schemas.microsoft.com/office/powerpoint/2010/main" val="357253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Categories of Communications</a:t>
            </a:r>
          </a:p>
        </p:txBody>
      </p:sp>
      <p:sp>
        <p:nvSpPr>
          <p:cNvPr id="3" name="Content Placeholder 2"/>
          <p:cNvSpPr>
            <a:spLocks noGrp="1"/>
          </p:cNvSpPr>
          <p:nvPr>
            <p:ph idx="1"/>
          </p:nvPr>
        </p:nvSpPr>
        <p:spPr/>
        <p:txBody>
          <a:bodyPr/>
          <a:lstStyle/>
          <a:p>
            <a:r>
              <a:rPr lang="en-US" b="1" dirty="0"/>
              <a:t>Monologue</a:t>
            </a:r>
            <a:r>
              <a:rPr lang="en-US" dirty="0"/>
              <a:t>: one-way simplex transmission of a given system to another given system.</a:t>
            </a:r>
          </a:p>
          <a:p>
            <a:r>
              <a:rPr lang="en-US" b="1" dirty="0"/>
              <a:t>Dialogue</a:t>
            </a:r>
            <a:r>
              <a:rPr lang="en-US" dirty="0"/>
              <a:t>: two-way duplex transmission between two systems.</a:t>
            </a:r>
          </a:p>
          <a:p>
            <a:r>
              <a:rPr lang="en-US" b="1" dirty="0"/>
              <a:t>Broadcast</a:t>
            </a:r>
            <a:r>
              <a:rPr lang="en-US" dirty="0"/>
              <a:t>: one-way simplex transmission from a given system to any other system or all systems.</a:t>
            </a:r>
          </a:p>
          <a:p>
            <a:r>
              <a:rPr lang="en-US" b="1" dirty="0"/>
              <a:t>Conference</a:t>
            </a:r>
            <a:r>
              <a:rPr lang="en-US" dirty="0"/>
              <a:t>: multiplexed n-to-n communication. This mode is used by the constellation systems to participate in problem solving and consideration of the actions to deal with a problem confronting the constellation as a whole (discussion or debate).</a:t>
            </a:r>
          </a:p>
        </p:txBody>
      </p:sp>
      <p:sp>
        <p:nvSpPr>
          <p:cNvPr id="4" name="Slide Number Placeholder 3"/>
          <p:cNvSpPr>
            <a:spLocks noGrp="1"/>
          </p:cNvSpPr>
          <p:nvPr>
            <p:ph type="sldNum" sz="quarter" idx="12"/>
          </p:nvPr>
        </p:nvSpPr>
        <p:spPr/>
        <p:txBody>
          <a:bodyPr/>
          <a:lstStyle/>
          <a:p>
            <a:fld id="{0267D5B8-E44A-4D0F-96C7-902652BCFAA0}" type="slidenum">
              <a:rPr lang="en-US" smtClean="0"/>
              <a:t>21</a:t>
            </a:fld>
            <a:endParaRPr lang="en-US"/>
          </a:p>
        </p:txBody>
      </p:sp>
    </p:spTree>
    <p:extLst>
      <p:ext uri="{BB962C8B-B14F-4D97-AF65-F5344CB8AC3E}">
        <p14:creationId xmlns:p14="http://schemas.microsoft.com/office/powerpoint/2010/main" val="2774487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a:t>
            </a:r>
          </a:p>
        </p:txBody>
      </p:sp>
      <p:sp>
        <p:nvSpPr>
          <p:cNvPr id="3" name="Content Placeholder 2"/>
          <p:cNvSpPr>
            <a:spLocks noGrp="1"/>
          </p:cNvSpPr>
          <p:nvPr>
            <p:ph idx="1"/>
          </p:nvPr>
        </p:nvSpPr>
        <p:spPr/>
        <p:txBody>
          <a:bodyPr/>
          <a:lstStyle/>
          <a:p>
            <a:pPr marL="0" indent="0">
              <a:buNone/>
            </a:pPr>
            <a:r>
              <a:rPr lang="en-US" b="1" dirty="0"/>
              <a:t>The Will System</a:t>
            </a:r>
            <a:r>
              <a:rPr lang="en-US" dirty="0"/>
              <a:t>: It is the executive system and comprises the following.</a:t>
            </a:r>
          </a:p>
          <a:p>
            <a:r>
              <a:rPr lang="en-US" dirty="0"/>
              <a:t>Environment Subsystem.</a:t>
            </a:r>
          </a:p>
          <a:p>
            <a:r>
              <a:rPr lang="en-US" dirty="0"/>
              <a:t>Mission Subsystem.</a:t>
            </a:r>
          </a:p>
          <a:p>
            <a:r>
              <a:rPr lang="en-US" dirty="0"/>
              <a:t>Executive Subsystem.</a:t>
            </a:r>
          </a:p>
          <a:p>
            <a:r>
              <a:rPr lang="en-US" dirty="0"/>
              <a:t>Constellation Repair Subsystem.</a:t>
            </a:r>
          </a:p>
          <a:p>
            <a:r>
              <a:rPr lang="en-US" dirty="0"/>
              <a:t>Axioms Subsystem (summarizes complicated rules to avoid dangerous mistakes).</a:t>
            </a: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22</a:t>
            </a:fld>
            <a:endParaRPr lang="en-US"/>
          </a:p>
        </p:txBody>
      </p:sp>
    </p:spTree>
    <p:extLst>
      <p:ext uri="{BB962C8B-B14F-4D97-AF65-F5344CB8AC3E}">
        <p14:creationId xmlns:p14="http://schemas.microsoft.com/office/powerpoint/2010/main" val="907718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Reason System</a:t>
            </a:r>
            <a:r>
              <a:rPr lang="en-US" dirty="0"/>
              <a:t>: It is the conscience of the mind participating as an advisor, without executive powers. Contemplation and reflection about issues important to the constellation. Comprises the following.</a:t>
            </a:r>
          </a:p>
          <a:p>
            <a:r>
              <a:rPr lang="en-US" dirty="0"/>
              <a:t>Laws Subsystem (not to be broken).</a:t>
            </a:r>
          </a:p>
          <a:p>
            <a:r>
              <a:rPr lang="en-US" dirty="0"/>
              <a:t>Rules Subsystem (guidelines for efficient operation).</a:t>
            </a:r>
          </a:p>
          <a:p>
            <a:r>
              <a:rPr lang="en-US" dirty="0"/>
              <a:t>Axioms Subsystem (summarizes complicated rules to avoid dangerous mistakes).</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23</a:t>
            </a:fld>
            <a:endParaRPr lang="en-US"/>
          </a:p>
        </p:txBody>
      </p:sp>
    </p:spTree>
    <p:extLst>
      <p:ext uri="{BB962C8B-B14F-4D97-AF65-F5344CB8AC3E}">
        <p14:creationId xmlns:p14="http://schemas.microsoft.com/office/powerpoint/2010/main" val="2107095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Intellect System</a:t>
            </a:r>
            <a:r>
              <a:rPr lang="en-US" dirty="0"/>
              <a:t>: capacity to acquire and apply knowledge. It comprises the following.</a:t>
            </a:r>
          </a:p>
          <a:p>
            <a:r>
              <a:rPr lang="en-US" dirty="0"/>
              <a:t>Abstract Data Subsystem (acquires, processes, and stores all information). Abstract data are validated by experiences.</a:t>
            </a:r>
          </a:p>
          <a:p>
            <a:r>
              <a:rPr lang="en-US" dirty="0"/>
              <a:t>The experience Subsystem (stores experiences in a repository).</a:t>
            </a:r>
          </a:p>
          <a:p>
            <a:r>
              <a:rPr lang="en-US" dirty="0"/>
              <a:t>Knowledge Subsystem (abstract data that has been validated by experiences).</a:t>
            </a:r>
          </a:p>
          <a:p>
            <a:endParaRPr lang="en-US" dirty="0"/>
          </a:p>
        </p:txBody>
      </p:sp>
      <p:sp>
        <p:nvSpPr>
          <p:cNvPr id="4" name="TextBox 3"/>
          <p:cNvSpPr txBox="1"/>
          <p:nvPr/>
        </p:nvSpPr>
        <p:spPr>
          <a:xfrm>
            <a:off x="838200" y="5110843"/>
            <a:ext cx="10089300" cy="369332"/>
          </a:xfrm>
          <a:prstGeom prst="rect">
            <a:avLst/>
          </a:prstGeom>
          <a:solidFill>
            <a:schemeClr val="accent2">
              <a:lumMod val="40000"/>
              <a:lumOff val="60000"/>
            </a:schemeClr>
          </a:solidFill>
        </p:spPr>
        <p:txBody>
          <a:bodyPr wrap="none" rtlCol="0">
            <a:spAutoFit/>
          </a:bodyPr>
          <a:lstStyle/>
          <a:p>
            <a:r>
              <a:rPr lang="en-US" dirty="0"/>
              <a:t>A sound decision is made first based on knowledge, then on experience, and rarely on abstract data alone</a:t>
            </a:r>
          </a:p>
        </p:txBody>
      </p:sp>
      <p:sp>
        <p:nvSpPr>
          <p:cNvPr id="5" name="TextBox 4"/>
          <p:cNvSpPr txBox="1"/>
          <p:nvPr/>
        </p:nvSpPr>
        <p:spPr>
          <a:xfrm>
            <a:off x="628650" y="5719318"/>
            <a:ext cx="10934700" cy="923330"/>
          </a:xfrm>
          <a:prstGeom prst="rect">
            <a:avLst/>
          </a:prstGeom>
          <a:noFill/>
        </p:spPr>
        <p:txBody>
          <a:bodyPr wrap="square" rtlCol="0">
            <a:spAutoFit/>
          </a:bodyPr>
          <a:lstStyle/>
          <a:p>
            <a:r>
              <a:rPr lang="en-US" dirty="0"/>
              <a:t>Even if the Will System is willing to accept and act upon input from the Reason System (ethical rules, laws, etc.), if the Intellect System is based on incomplete information (primarily abstract knowledge), the decision will be flawed or wrong.</a:t>
            </a:r>
          </a:p>
        </p:txBody>
      </p:sp>
      <p:sp>
        <p:nvSpPr>
          <p:cNvPr id="6" name="Slide Number Placeholder 5"/>
          <p:cNvSpPr>
            <a:spLocks noGrp="1"/>
          </p:cNvSpPr>
          <p:nvPr>
            <p:ph type="sldNum" sz="quarter" idx="12"/>
          </p:nvPr>
        </p:nvSpPr>
        <p:spPr/>
        <p:txBody>
          <a:bodyPr/>
          <a:lstStyle/>
          <a:p>
            <a:fld id="{0267D5B8-E44A-4D0F-96C7-902652BCFAA0}" type="slidenum">
              <a:rPr lang="en-US" smtClean="0"/>
              <a:t>24</a:t>
            </a:fld>
            <a:endParaRPr lang="en-US"/>
          </a:p>
        </p:txBody>
      </p:sp>
    </p:spTree>
    <p:extLst>
      <p:ext uri="{BB962C8B-B14F-4D97-AF65-F5344CB8AC3E}">
        <p14:creationId xmlns:p14="http://schemas.microsoft.com/office/powerpoint/2010/main" val="1249468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Presentation System</a:t>
            </a:r>
            <a:r>
              <a:rPr lang="en-US" dirty="0"/>
              <a:t>: it is the theater of the mind (Visualizing what is going on in the Thinking System).</a:t>
            </a:r>
          </a:p>
          <a:p>
            <a:r>
              <a:rPr lang="en-US" dirty="0"/>
              <a:t>Its subsystems are: Viewing, Projection, Experience, Analysis, Recall, and Contemplation.</a:t>
            </a:r>
          </a:p>
          <a:p>
            <a:r>
              <a:rPr lang="en-US" dirty="0"/>
              <a:t>Important to the survival of the AS: </a:t>
            </a:r>
          </a:p>
          <a:p>
            <a:pPr lvl="1"/>
            <a:r>
              <a:rPr lang="en-US" dirty="0"/>
              <a:t>It can present  consequences of a decision made by the Will System in real-time.</a:t>
            </a:r>
          </a:p>
          <a:p>
            <a:pPr lvl="1"/>
            <a:r>
              <a:rPr lang="en-US" dirty="0"/>
              <a:t>It can present courses of action under consideration by the constellation.</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25</a:t>
            </a:fld>
            <a:endParaRPr lang="en-US"/>
          </a:p>
        </p:txBody>
      </p:sp>
    </p:spTree>
    <p:extLst>
      <p:ext uri="{BB962C8B-B14F-4D97-AF65-F5344CB8AC3E}">
        <p14:creationId xmlns:p14="http://schemas.microsoft.com/office/powerpoint/2010/main" val="3811434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Understanding System</a:t>
            </a:r>
            <a:r>
              <a:rPr lang="en-US" dirty="0"/>
              <a:t>: it is where the material for thinking is assembled, compiled, and presented to the constellation for review and consensus.</a:t>
            </a:r>
          </a:p>
          <a:p>
            <a:r>
              <a:rPr lang="en-US" dirty="0"/>
              <a:t>Ability to learn.</a:t>
            </a:r>
          </a:p>
          <a:p>
            <a:r>
              <a:rPr lang="en-US" dirty="0"/>
              <a:t>Ability to process abstract data, experience data, knowledge by accessing the Intellect System.</a:t>
            </a:r>
          </a:p>
        </p:txBody>
      </p:sp>
      <p:sp>
        <p:nvSpPr>
          <p:cNvPr id="4" name="Slide Number Placeholder 3"/>
          <p:cNvSpPr>
            <a:spLocks noGrp="1"/>
          </p:cNvSpPr>
          <p:nvPr>
            <p:ph type="sldNum" sz="quarter" idx="12"/>
          </p:nvPr>
        </p:nvSpPr>
        <p:spPr/>
        <p:txBody>
          <a:bodyPr/>
          <a:lstStyle/>
          <a:p>
            <a:fld id="{0267D5B8-E44A-4D0F-96C7-902652BCFAA0}" type="slidenum">
              <a:rPr lang="en-US" smtClean="0"/>
              <a:t>26</a:t>
            </a:fld>
            <a:endParaRPr lang="en-US"/>
          </a:p>
        </p:txBody>
      </p:sp>
    </p:spTree>
    <p:extLst>
      <p:ext uri="{BB962C8B-B14F-4D97-AF65-F5344CB8AC3E}">
        <p14:creationId xmlns:p14="http://schemas.microsoft.com/office/powerpoint/2010/main" val="2345630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Sensory System</a:t>
            </a:r>
            <a:r>
              <a:rPr lang="en-US" dirty="0"/>
              <a:t>: it receives external and internal sensory data.</a:t>
            </a:r>
          </a:p>
          <a:p>
            <a:r>
              <a:rPr lang="en-US" dirty="0"/>
              <a:t>Subsystems include: External Sensory, Internal Sensory, Propulsion, Motion and Manipulation, Standards and limits, Autonomous System State.</a:t>
            </a:r>
          </a:p>
        </p:txBody>
      </p:sp>
      <p:sp>
        <p:nvSpPr>
          <p:cNvPr id="4" name="Slide Number Placeholder 3"/>
          <p:cNvSpPr>
            <a:spLocks noGrp="1"/>
          </p:cNvSpPr>
          <p:nvPr>
            <p:ph type="sldNum" sz="quarter" idx="12"/>
          </p:nvPr>
        </p:nvSpPr>
        <p:spPr/>
        <p:txBody>
          <a:bodyPr/>
          <a:lstStyle/>
          <a:p>
            <a:fld id="{0267D5B8-E44A-4D0F-96C7-902652BCFAA0}" type="slidenum">
              <a:rPr lang="en-US" smtClean="0"/>
              <a:t>27</a:t>
            </a:fld>
            <a:endParaRPr lang="en-US"/>
          </a:p>
        </p:txBody>
      </p:sp>
    </p:spTree>
    <p:extLst>
      <p:ext uri="{BB962C8B-B14F-4D97-AF65-F5344CB8AC3E}">
        <p14:creationId xmlns:p14="http://schemas.microsoft.com/office/powerpoint/2010/main" val="3374866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Decision System</a:t>
            </a:r>
            <a:r>
              <a:rPr lang="en-US" dirty="0"/>
              <a:t>: it represents the Operations Officer.</a:t>
            </a:r>
          </a:p>
          <a:p>
            <a:r>
              <a:rPr lang="en-US" dirty="0"/>
              <a:t>It assembles all relevant data from the systems of the constellation and prepares a number of prioritized courses of action with the Will System.</a:t>
            </a:r>
          </a:p>
          <a:p>
            <a:r>
              <a:rPr lang="en-US" dirty="0"/>
              <a:t>Subsystems include: Arbitration, Value, Decision Processing.</a:t>
            </a:r>
          </a:p>
        </p:txBody>
      </p:sp>
      <p:sp>
        <p:nvSpPr>
          <p:cNvPr id="4" name="Slide Number Placeholder 3"/>
          <p:cNvSpPr>
            <a:spLocks noGrp="1"/>
          </p:cNvSpPr>
          <p:nvPr>
            <p:ph type="sldNum" sz="quarter" idx="12"/>
          </p:nvPr>
        </p:nvSpPr>
        <p:spPr/>
        <p:txBody>
          <a:bodyPr/>
          <a:lstStyle/>
          <a:p>
            <a:fld id="{0267D5B8-E44A-4D0F-96C7-902652BCFAA0}" type="slidenum">
              <a:rPr lang="en-US" smtClean="0"/>
              <a:t>28</a:t>
            </a:fld>
            <a:endParaRPr lang="en-US"/>
          </a:p>
        </p:txBody>
      </p:sp>
    </p:spTree>
    <p:extLst>
      <p:ext uri="{BB962C8B-B14F-4D97-AF65-F5344CB8AC3E}">
        <p14:creationId xmlns:p14="http://schemas.microsoft.com/office/powerpoint/2010/main" val="1560575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Systems Comprising the Constellation (</a:t>
            </a:r>
            <a:r>
              <a:rPr lang="en-US" dirty="0" err="1"/>
              <a:t>Cont</a:t>
            </a:r>
            <a:r>
              <a:rPr lang="en-US" dirty="0"/>
              <a:t>)</a:t>
            </a:r>
          </a:p>
        </p:txBody>
      </p:sp>
      <p:sp>
        <p:nvSpPr>
          <p:cNvPr id="3" name="Content Placeholder 2"/>
          <p:cNvSpPr>
            <a:spLocks noGrp="1"/>
          </p:cNvSpPr>
          <p:nvPr>
            <p:ph idx="1"/>
          </p:nvPr>
        </p:nvSpPr>
        <p:spPr/>
        <p:txBody>
          <a:bodyPr/>
          <a:lstStyle/>
          <a:p>
            <a:pPr marL="0" indent="0">
              <a:buNone/>
            </a:pPr>
            <a:r>
              <a:rPr lang="en-US" b="1" dirty="0"/>
              <a:t>The Thought System</a:t>
            </a:r>
            <a:r>
              <a:rPr lang="en-US" dirty="0"/>
              <a:t>: Is described as the internal communications of the autonomous system, showing the architecture of how the autonomous system will work once development starts.</a:t>
            </a:r>
          </a:p>
          <a:p>
            <a:r>
              <a:rPr lang="en-US" dirty="0"/>
              <a:t>The communication-related subsystems include the Fault Monitoring Subsystem, the Command and Demand </a:t>
            </a:r>
            <a:r>
              <a:rPr lang="en-US" dirty="0" err="1"/>
              <a:t>Subsytem</a:t>
            </a:r>
            <a:r>
              <a:rPr lang="en-US" dirty="0"/>
              <a:t>, and the Communications Subsystem.</a:t>
            </a:r>
          </a:p>
          <a:p>
            <a:r>
              <a:rPr lang="en-US" dirty="0"/>
              <a:t>Fault management, resource management, mission management, and communications management are core functions of an autonomous system.</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29</a:t>
            </a:fld>
            <a:endParaRPr lang="en-US"/>
          </a:p>
        </p:txBody>
      </p:sp>
    </p:spTree>
    <p:extLst>
      <p:ext uri="{BB962C8B-B14F-4D97-AF65-F5344CB8AC3E}">
        <p14:creationId xmlns:p14="http://schemas.microsoft.com/office/powerpoint/2010/main" val="1462608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JPL-STD-D-4000 for System Requirements</a:t>
            </a:r>
          </a:p>
        </p:txBody>
      </p:sp>
      <p:sp>
        <p:nvSpPr>
          <p:cNvPr id="3" name="Content Placeholder 2"/>
          <p:cNvSpPr>
            <a:spLocks noGrp="1"/>
          </p:cNvSpPr>
          <p:nvPr>
            <p:ph idx="1"/>
          </p:nvPr>
        </p:nvSpPr>
        <p:spPr/>
        <p:txBody>
          <a:bodyPr/>
          <a:lstStyle/>
          <a:p>
            <a:r>
              <a:rPr lang="en-US" dirty="0"/>
              <a:t>“We lost the great Space Shuttle Challenger ultimately because the launch manager made an a priori decision to ignore the judgment of the systems expert. An autonomous system will not make these kinds of decisions because it will be rational and intelligent by design.”</a:t>
            </a:r>
          </a:p>
          <a:p>
            <a:r>
              <a:rPr lang="en-US" dirty="0"/>
              <a:t>JPL-STD-D-4000 is the JPL standard to build large spacecraft ground systems (comprising telemetry, command, and communications systems).</a:t>
            </a:r>
          </a:p>
          <a:p>
            <a:r>
              <a:rPr lang="en-US" dirty="0"/>
              <a:t>NASA Technical Standards: </a:t>
            </a:r>
            <a:r>
              <a:rPr lang="en-US" dirty="0">
                <a:hlinkClick r:id="rId2"/>
              </a:rPr>
              <a:t>https://standards.nasa.gov/NASA-Technical-Standards</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30</a:t>
            </a:fld>
            <a:endParaRPr lang="en-US"/>
          </a:p>
        </p:txBody>
      </p:sp>
    </p:spTree>
    <p:extLst>
      <p:ext uri="{BB962C8B-B14F-4D97-AF65-F5344CB8AC3E}">
        <p14:creationId xmlns:p14="http://schemas.microsoft.com/office/powerpoint/2010/main" val="861733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of the Will System</a:t>
            </a:r>
          </a:p>
        </p:txBody>
      </p:sp>
      <p:sp>
        <p:nvSpPr>
          <p:cNvPr id="3" name="Content Placeholder 2"/>
          <p:cNvSpPr>
            <a:spLocks noGrp="1"/>
          </p:cNvSpPr>
          <p:nvPr>
            <p:ph idx="1"/>
          </p:nvPr>
        </p:nvSpPr>
        <p:spPr/>
        <p:txBody>
          <a:bodyPr>
            <a:normAutofit lnSpcReduction="10000"/>
          </a:bodyPr>
          <a:lstStyle/>
          <a:p>
            <a:r>
              <a:rPr lang="en-US" dirty="0"/>
              <a:t>It is the dominant system, the maker of executive decisions.</a:t>
            </a:r>
          </a:p>
          <a:p>
            <a:r>
              <a:rPr lang="en-US" dirty="0"/>
              <a:t>It assures the survival of the Autonomous System and achievement of the mission objectives.</a:t>
            </a:r>
          </a:p>
          <a:p>
            <a:r>
              <a:rPr lang="en-US" dirty="0"/>
              <a:t>Subsystems include: Survival, Propagation, Dominance, Science Data Conversion, Craving, Search for Truth, Mission, and Repair.</a:t>
            </a:r>
          </a:p>
          <a:p>
            <a:r>
              <a:rPr lang="en-US" dirty="0"/>
              <a:t>Search for truth is the beginning of the human thought system.</a:t>
            </a:r>
          </a:p>
          <a:p>
            <a:r>
              <a:rPr lang="en-US" dirty="0"/>
              <a:t>“An autonomous system cannot be autonomous without the ability to think in a human language and hold internal dialogues, monologues, presentations, discussions, and son on, all of which belong to the process of Logic, pure thought.”</a:t>
            </a:r>
          </a:p>
        </p:txBody>
      </p:sp>
      <p:sp>
        <p:nvSpPr>
          <p:cNvPr id="4" name="Slide Number Placeholder 3"/>
          <p:cNvSpPr>
            <a:spLocks noGrp="1"/>
          </p:cNvSpPr>
          <p:nvPr>
            <p:ph type="sldNum" sz="quarter" idx="12"/>
          </p:nvPr>
        </p:nvSpPr>
        <p:spPr/>
        <p:txBody>
          <a:bodyPr/>
          <a:lstStyle/>
          <a:p>
            <a:fld id="{0267D5B8-E44A-4D0F-96C7-902652BCFAA0}" type="slidenum">
              <a:rPr lang="en-US" smtClean="0"/>
              <a:t>31</a:t>
            </a:fld>
            <a:endParaRPr lang="en-US"/>
          </a:p>
        </p:txBody>
      </p:sp>
    </p:spTree>
    <p:extLst>
      <p:ext uri="{BB962C8B-B14F-4D97-AF65-F5344CB8AC3E}">
        <p14:creationId xmlns:p14="http://schemas.microsoft.com/office/powerpoint/2010/main" val="1507038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3.11 Philosophical Background</a:t>
            </a:r>
          </a:p>
        </p:txBody>
      </p:sp>
      <p:sp>
        <p:nvSpPr>
          <p:cNvPr id="3" name="Content Placeholder 2"/>
          <p:cNvSpPr>
            <a:spLocks noGrp="1"/>
          </p:cNvSpPr>
          <p:nvPr>
            <p:ph idx="1"/>
          </p:nvPr>
        </p:nvSpPr>
        <p:spPr/>
        <p:txBody>
          <a:bodyPr/>
          <a:lstStyle/>
          <a:p>
            <a:r>
              <a:rPr lang="en-US" dirty="0"/>
              <a:t>There are 2 things that need to be addressed to develop an autonomous system:</a:t>
            </a:r>
          </a:p>
          <a:p>
            <a:pPr lvl="1"/>
            <a:r>
              <a:rPr lang="en-US" dirty="0"/>
              <a:t>Select a language to be used (Structured Natural Language? E.g. G2).</a:t>
            </a:r>
          </a:p>
          <a:p>
            <a:pPr lvl="1"/>
            <a:r>
              <a:rPr lang="en-US" dirty="0"/>
              <a:t>How to get the system to acquire the full potential of the selected language.</a:t>
            </a:r>
          </a:p>
          <a:p>
            <a:pPr lvl="2"/>
            <a:r>
              <a:rPr lang="en-US" dirty="0"/>
              <a:t>How to best convey a true and precise meaning of an idea.</a:t>
            </a:r>
          </a:p>
          <a:p>
            <a:r>
              <a:rPr lang="en-US" dirty="0"/>
              <a:t>Survival: Bus and Propulsion System.</a:t>
            </a:r>
          </a:p>
        </p:txBody>
      </p:sp>
      <p:sp>
        <p:nvSpPr>
          <p:cNvPr id="4" name="Slide Number Placeholder 3"/>
          <p:cNvSpPr>
            <a:spLocks noGrp="1"/>
          </p:cNvSpPr>
          <p:nvPr>
            <p:ph type="sldNum" sz="quarter" idx="12"/>
          </p:nvPr>
        </p:nvSpPr>
        <p:spPr/>
        <p:txBody>
          <a:bodyPr/>
          <a:lstStyle/>
          <a:p>
            <a:fld id="{0267D5B8-E44A-4D0F-96C7-902652BCFAA0}" type="slidenum">
              <a:rPr lang="en-US" smtClean="0"/>
              <a:t>32</a:t>
            </a:fld>
            <a:endParaRPr lang="en-US"/>
          </a:p>
        </p:txBody>
      </p:sp>
    </p:spTree>
    <p:extLst>
      <p:ext uri="{BB962C8B-B14F-4D97-AF65-F5344CB8AC3E}">
        <p14:creationId xmlns:p14="http://schemas.microsoft.com/office/powerpoint/2010/main" val="2614389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Will: Survival</a:t>
            </a:r>
          </a:p>
        </p:txBody>
      </p:sp>
      <p:sp>
        <p:nvSpPr>
          <p:cNvPr id="3" name="Content Placeholder 2"/>
          <p:cNvSpPr>
            <a:spLocks noGrp="1"/>
          </p:cNvSpPr>
          <p:nvPr>
            <p:ph idx="1"/>
          </p:nvPr>
        </p:nvSpPr>
        <p:spPr/>
        <p:txBody>
          <a:bodyPr/>
          <a:lstStyle/>
          <a:p>
            <a:r>
              <a:rPr lang="en-US" dirty="0"/>
              <a:t>Must have energy for its critical systems.</a:t>
            </a:r>
          </a:p>
          <a:p>
            <a:r>
              <a:rPr lang="en-US" dirty="0"/>
              <a:t>Behavior of the will.</a:t>
            </a:r>
          </a:p>
          <a:p>
            <a:pPr lvl="1"/>
            <a:r>
              <a:rPr lang="en-US" dirty="0"/>
              <a:t>Influenced by motives, reflection, thinking, and contemplation.</a:t>
            </a:r>
          </a:p>
          <a:p>
            <a:pPr lvl="1"/>
            <a:r>
              <a:rPr lang="en-US" dirty="0"/>
              <a:t>Manifested in the reactions of searching, pursuing, fleeing, and avoiding.</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33</a:t>
            </a:fld>
            <a:endParaRPr lang="en-US"/>
          </a:p>
        </p:txBody>
      </p:sp>
    </p:spTree>
    <p:extLst>
      <p:ext uri="{BB962C8B-B14F-4D97-AF65-F5344CB8AC3E}">
        <p14:creationId xmlns:p14="http://schemas.microsoft.com/office/powerpoint/2010/main" val="1144935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Will: Search for Truth</a:t>
            </a:r>
          </a:p>
        </p:txBody>
      </p:sp>
      <p:sp>
        <p:nvSpPr>
          <p:cNvPr id="3" name="Content Placeholder 2"/>
          <p:cNvSpPr>
            <a:spLocks noGrp="1"/>
          </p:cNvSpPr>
          <p:nvPr>
            <p:ph idx="1"/>
          </p:nvPr>
        </p:nvSpPr>
        <p:spPr/>
        <p:txBody>
          <a:bodyPr>
            <a:normAutofit fontScale="92500" lnSpcReduction="10000"/>
          </a:bodyPr>
          <a:lstStyle/>
          <a:p>
            <a:r>
              <a:rPr lang="en-US" dirty="0"/>
              <a:t>Survival is in the form of axiomatic rules, initially this is in the form of a hardwired database (instinct).</a:t>
            </a:r>
          </a:p>
          <a:p>
            <a:pPr lvl="1"/>
            <a:r>
              <a:rPr lang="en-US" dirty="0"/>
              <a:t>Axiom: a statement or proposition which is regarded as being established, accepted, or self-evidently true.</a:t>
            </a:r>
          </a:p>
          <a:p>
            <a:pPr lvl="2"/>
            <a:r>
              <a:rPr lang="en-US" dirty="0"/>
              <a:t>"a line can be extended indefinitely," "things equal to the same thing are equal to each other," "if equals are added to equals, the wholes are equal."</a:t>
            </a:r>
          </a:p>
          <a:p>
            <a:r>
              <a:rPr lang="en-US" dirty="0"/>
              <a:t>It is a subsystem that relates to how the human thought system evolves. </a:t>
            </a:r>
          </a:p>
          <a:p>
            <a:r>
              <a:rPr lang="en-US" dirty="0"/>
              <a:t>In more advanced systems, the axiomatic rules will form a function of a separate database dedicated to more complex rules as to what to do and not to do.</a:t>
            </a:r>
          </a:p>
          <a:p>
            <a:r>
              <a:rPr lang="en-US" dirty="0"/>
              <a:t>In humans, axiomatic rules keep expanding due to sheer necessity and form a primitive version of the Reason.</a:t>
            </a:r>
          </a:p>
        </p:txBody>
      </p:sp>
      <p:sp>
        <p:nvSpPr>
          <p:cNvPr id="4" name="Slide Number Placeholder 3"/>
          <p:cNvSpPr>
            <a:spLocks noGrp="1"/>
          </p:cNvSpPr>
          <p:nvPr>
            <p:ph type="sldNum" sz="quarter" idx="12"/>
          </p:nvPr>
        </p:nvSpPr>
        <p:spPr/>
        <p:txBody>
          <a:bodyPr/>
          <a:lstStyle/>
          <a:p>
            <a:fld id="{0267D5B8-E44A-4D0F-96C7-902652BCFAA0}" type="slidenum">
              <a:rPr lang="en-US" smtClean="0"/>
              <a:t>34</a:t>
            </a:fld>
            <a:endParaRPr lang="en-US"/>
          </a:p>
        </p:txBody>
      </p:sp>
    </p:spTree>
    <p:extLst>
      <p:ext uri="{BB962C8B-B14F-4D97-AF65-F5344CB8AC3E}">
        <p14:creationId xmlns:p14="http://schemas.microsoft.com/office/powerpoint/2010/main" val="2209371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Will: The Mission Subsystem</a:t>
            </a:r>
          </a:p>
        </p:txBody>
      </p:sp>
      <p:sp>
        <p:nvSpPr>
          <p:cNvPr id="3" name="Content Placeholder 2"/>
          <p:cNvSpPr>
            <a:spLocks noGrp="1"/>
          </p:cNvSpPr>
          <p:nvPr>
            <p:ph idx="1"/>
          </p:nvPr>
        </p:nvSpPr>
        <p:spPr/>
        <p:txBody>
          <a:bodyPr/>
          <a:lstStyle/>
          <a:p>
            <a:r>
              <a:rPr lang="en-US" dirty="0"/>
              <a:t>Provides the Will a mission to be accomplished.</a:t>
            </a:r>
          </a:p>
          <a:p>
            <a:pPr lvl="1"/>
            <a:r>
              <a:rPr lang="en-US" dirty="0"/>
              <a:t>Mission example: A Lunar Terrain Vehicle (LTV) off-loads cargo from a Human Landing System (HLS) and takes it to the In-Situ Resource Utilization (ISRU) Plant.</a:t>
            </a:r>
          </a:p>
          <a:p>
            <a:pPr lvl="1"/>
            <a:r>
              <a:rPr lang="en-US" dirty="0"/>
              <a:t>Other examples?</a:t>
            </a:r>
          </a:p>
        </p:txBody>
      </p:sp>
      <p:sp>
        <p:nvSpPr>
          <p:cNvPr id="4" name="Slide Number Placeholder 3"/>
          <p:cNvSpPr>
            <a:spLocks noGrp="1"/>
          </p:cNvSpPr>
          <p:nvPr>
            <p:ph type="sldNum" sz="quarter" idx="12"/>
          </p:nvPr>
        </p:nvSpPr>
        <p:spPr/>
        <p:txBody>
          <a:bodyPr/>
          <a:lstStyle/>
          <a:p>
            <a:fld id="{0267D5B8-E44A-4D0F-96C7-902652BCFAA0}" type="slidenum">
              <a:rPr lang="en-US" smtClean="0"/>
              <a:t>35</a:t>
            </a:fld>
            <a:endParaRPr lang="en-US"/>
          </a:p>
        </p:txBody>
      </p:sp>
    </p:spTree>
    <p:extLst>
      <p:ext uri="{BB962C8B-B14F-4D97-AF65-F5344CB8AC3E}">
        <p14:creationId xmlns:p14="http://schemas.microsoft.com/office/powerpoint/2010/main" val="3216842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Will: The Repair Subsystem</a:t>
            </a:r>
          </a:p>
        </p:txBody>
      </p:sp>
      <p:sp>
        <p:nvSpPr>
          <p:cNvPr id="3" name="Content Placeholder 2"/>
          <p:cNvSpPr>
            <a:spLocks noGrp="1"/>
          </p:cNvSpPr>
          <p:nvPr>
            <p:ph idx="1"/>
          </p:nvPr>
        </p:nvSpPr>
        <p:spPr/>
        <p:txBody>
          <a:bodyPr/>
          <a:lstStyle/>
          <a:p>
            <a:r>
              <a:rPr lang="en-US" dirty="0"/>
              <a:t>Provides the Will with the ability to monitor the state of the systems and the constellation as a whole.</a:t>
            </a:r>
          </a:p>
          <a:p>
            <a:pPr lvl="1"/>
            <a:r>
              <a:rPr lang="en-US" dirty="0"/>
              <a:t>Health of internal and external sensors.</a:t>
            </a:r>
          </a:p>
          <a:p>
            <a:pPr lvl="1"/>
            <a:r>
              <a:rPr lang="en-US" dirty="0"/>
              <a:t>Operational parameters of all system components.</a:t>
            </a:r>
          </a:p>
          <a:p>
            <a:r>
              <a:rPr lang="en-US" dirty="0"/>
              <a:t>Provides the Will with the ability to repair anomalies.</a:t>
            </a:r>
          </a:p>
          <a:p>
            <a:pPr lvl="1"/>
            <a:r>
              <a:rPr lang="en-US" dirty="0"/>
              <a:t>Software and hardware repairs.</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36</a:t>
            </a:fld>
            <a:endParaRPr lang="en-US"/>
          </a:p>
        </p:txBody>
      </p:sp>
    </p:spTree>
    <p:extLst>
      <p:ext uri="{BB962C8B-B14F-4D97-AF65-F5344CB8AC3E}">
        <p14:creationId xmlns:p14="http://schemas.microsoft.com/office/powerpoint/2010/main" val="3549406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Reason System</a:t>
            </a:r>
          </a:p>
        </p:txBody>
      </p:sp>
      <p:sp>
        <p:nvSpPr>
          <p:cNvPr id="3" name="Content Placeholder 2"/>
          <p:cNvSpPr>
            <a:spLocks noGrp="1"/>
          </p:cNvSpPr>
          <p:nvPr>
            <p:ph idx="1"/>
          </p:nvPr>
        </p:nvSpPr>
        <p:spPr/>
        <p:txBody>
          <a:bodyPr>
            <a:normAutofit lnSpcReduction="10000"/>
          </a:bodyPr>
          <a:lstStyle/>
          <a:p>
            <a:r>
              <a:rPr lang="en-US" dirty="0"/>
              <a:t>The role of the Reason is that of the “Conscience” of the autonomous system.</a:t>
            </a:r>
          </a:p>
          <a:p>
            <a:r>
              <a:rPr lang="en-US" dirty="0"/>
              <a:t>It ensures that the Will does not make decisions that violate rules of operations while executing to achieve mission objectives.</a:t>
            </a:r>
          </a:p>
          <a:p>
            <a:r>
              <a:rPr lang="en-US" dirty="0"/>
              <a:t>It is the system where the axioms, rules, and laws are located and processed.</a:t>
            </a:r>
          </a:p>
          <a:p>
            <a:r>
              <a:rPr lang="en-US" dirty="0"/>
              <a:t>A law or rule is independent of experience.</a:t>
            </a:r>
          </a:p>
          <a:p>
            <a:r>
              <a:rPr lang="en-US" dirty="0"/>
              <a:t>The Reason is the voice of caution or prudence.</a:t>
            </a:r>
          </a:p>
          <a:p>
            <a:r>
              <a:rPr lang="en-US" dirty="0"/>
              <a:t>The Reason System is more closely coupled to the Intellect System than any other system of the autonomous system.</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37</a:t>
            </a:fld>
            <a:endParaRPr lang="en-US"/>
          </a:p>
        </p:txBody>
      </p:sp>
    </p:spTree>
    <p:extLst>
      <p:ext uri="{BB962C8B-B14F-4D97-AF65-F5344CB8AC3E}">
        <p14:creationId xmlns:p14="http://schemas.microsoft.com/office/powerpoint/2010/main" val="846507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External Interfaces of the Reason</a:t>
            </a:r>
          </a:p>
        </p:txBody>
      </p:sp>
      <p:sp>
        <p:nvSpPr>
          <p:cNvPr id="3" name="Content Placeholder 2"/>
          <p:cNvSpPr>
            <a:spLocks noGrp="1"/>
          </p:cNvSpPr>
          <p:nvPr>
            <p:ph idx="1"/>
          </p:nvPr>
        </p:nvSpPr>
        <p:spPr/>
        <p:txBody>
          <a:bodyPr>
            <a:normAutofit/>
          </a:bodyPr>
          <a:lstStyle/>
          <a:p>
            <a:r>
              <a:rPr lang="en-US" dirty="0"/>
              <a:t>The decision to give each system of the constellation the ability to receive, process, or transmit sensory data, is primarily for  having redundancy for sensory perception and thinking.</a:t>
            </a:r>
          </a:p>
          <a:p>
            <a:r>
              <a:rPr lang="en-US" dirty="0"/>
              <a:t>“When an a priori understanding enters the consciousness as a pure concept that is not based on empirical information or from physical viewing and other sensory input, but from thinking and understanding, it is an elementary concept that is our own. This, in human beings, is a transcendental operation.”</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38</a:t>
            </a:fld>
            <a:endParaRPr lang="en-US"/>
          </a:p>
        </p:txBody>
      </p:sp>
    </p:spTree>
    <p:extLst>
      <p:ext uri="{BB962C8B-B14F-4D97-AF65-F5344CB8AC3E}">
        <p14:creationId xmlns:p14="http://schemas.microsoft.com/office/powerpoint/2010/main" val="686605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Axioms</a:t>
            </a:r>
          </a:p>
        </p:txBody>
      </p:sp>
      <p:sp>
        <p:nvSpPr>
          <p:cNvPr id="3" name="Content Placeholder 2"/>
          <p:cNvSpPr>
            <a:spLocks noGrp="1"/>
          </p:cNvSpPr>
          <p:nvPr>
            <p:ph idx="1"/>
          </p:nvPr>
        </p:nvSpPr>
        <p:spPr/>
        <p:txBody>
          <a:bodyPr>
            <a:normAutofit/>
          </a:bodyPr>
          <a:lstStyle/>
          <a:p>
            <a:r>
              <a:rPr lang="en-US" dirty="0"/>
              <a:t>It contains knowledge upon which  survival will depend.</a:t>
            </a:r>
          </a:p>
          <a:p>
            <a:r>
              <a:rPr lang="en-US" dirty="0"/>
              <a:t>The axioms subsystem databases are accepted as universally true.</a:t>
            </a:r>
          </a:p>
          <a:p>
            <a:r>
              <a:rPr lang="en-US" dirty="0"/>
              <a:t>It is simultaneously  a subsystem, a database, and a process.</a:t>
            </a:r>
          </a:p>
        </p:txBody>
      </p:sp>
      <p:sp>
        <p:nvSpPr>
          <p:cNvPr id="4" name="Slide Number Placeholder 3"/>
          <p:cNvSpPr>
            <a:spLocks noGrp="1"/>
          </p:cNvSpPr>
          <p:nvPr>
            <p:ph type="sldNum" sz="quarter" idx="12"/>
          </p:nvPr>
        </p:nvSpPr>
        <p:spPr/>
        <p:txBody>
          <a:bodyPr/>
          <a:lstStyle/>
          <a:p>
            <a:fld id="{0267D5B8-E44A-4D0F-96C7-902652BCFAA0}" type="slidenum">
              <a:rPr lang="en-US" smtClean="0"/>
              <a:t>39</a:t>
            </a:fld>
            <a:endParaRPr lang="en-US"/>
          </a:p>
        </p:txBody>
      </p:sp>
    </p:spTree>
    <p:extLst>
      <p:ext uri="{BB962C8B-B14F-4D97-AF65-F5344CB8AC3E}">
        <p14:creationId xmlns:p14="http://schemas.microsoft.com/office/powerpoint/2010/main" val="2996640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Rules</a:t>
            </a:r>
          </a:p>
        </p:txBody>
      </p:sp>
      <p:sp>
        <p:nvSpPr>
          <p:cNvPr id="3" name="Content Placeholder 2"/>
          <p:cNvSpPr>
            <a:spLocks noGrp="1"/>
          </p:cNvSpPr>
          <p:nvPr>
            <p:ph idx="1"/>
          </p:nvPr>
        </p:nvSpPr>
        <p:spPr/>
        <p:txBody>
          <a:bodyPr>
            <a:normAutofit/>
          </a:bodyPr>
          <a:lstStyle/>
          <a:p>
            <a:r>
              <a:rPr lang="en-US" dirty="0"/>
              <a:t>“The rules subsystem governs an authoritatively directed set of principles containing standards and procedures not only pertaining to conduct in a group, but also to the steps taken to solve mechanical and scientific problems.”</a:t>
            </a:r>
          </a:p>
          <a:p>
            <a:r>
              <a:rPr lang="en-US" dirty="0"/>
              <a:t>Are changeable, based on experience, gained by practice.</a:t>
            </a:r>
          </a:p>
          <a:p>
            <a:r>
              <a:rPr lang="en-US" dirty="0"/>
              <a:t>Keep straight the direction of work or movement.</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40</a:t>
            </a:fld>
            <a:endParaRPr lang="en-US"/>
          </a:p>
        </p:txBody>
      </p:sp>
    </p:spTree>
    <p:extLst>
      <p:ext uri="{BB962C8B-B14F-4D97-AF65-F5344CB8AC3E}">
        <p14:creationId xmlns:p14="http://schemas.microsoft.com/office/powerpoint/2010/main" val="1285737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Laws</a:t>
            </a:r>
          </a:p>
        </p:txBody>
      </p:sp>
      <p:sp>
        <p:nvSpPr>
          <p:cNvPr id="3" name="Content Placeholder 2"/>
          <p:cNvSpPr>
            <a:spLocks noGrp="1"/>
          </p:cNvSpPr>
          <p:nvPr>
            <p:ph idx="1"/>
          </p:nvPr>
        </p:nvSpPr>
        <p:spPr/>
        <p:txBody>
          <a:bodyPr>
            <a:normAutofit/>
          </a:bodyPr>
          <a:lstStyle/>
          <a:p>
            <a:r>
              <a:rPr lang="en-US" dirty="0"/>
              <a:t>The laws govern behavior among the members of the constellation (the systems of the constellation), in the measure in which they may have autonomy themselves.</a:t>
            </a:r>
          </a:p>
          <a:p>
            <a:r>
              <a:rPr lang="en-US" dirty="0"/>
              <a:t>The laws govern behavior among multiple autonomous systems interacting with each other.</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41</a:t>
            </a:fld>
            <a:endParaRPr lang="en-US"/>
          </a:p>
        </p:txBody>
      </p:sp>
    </p:spTree>
    <p:extLst>
      <p:ext uri="{BB962C8B-B14F-4D97-AF65-F5344CB8AC3E}">
        <p14:creationId xmlns:p14="http://schemas.microsoft.com/office/powerpoint/2010/main" val="3196679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Phenomenon</a:t>
            </a:r>
          </a:p>
        </p:txBody>
      </p:sp>
      <p:sp>
        <p:nvSpPr>
          <p:cNvPr id="3" name="Content Placeholder 2"/>
          <p:cNvSpPr>
            <a:spLocks noGrp="1"/>
          </p:cNvSpPr>
          <p:nvPr>
            <p:ph idx="1"/>
          </p:nvPr>
        </p:nvSpPr>
        <p:spPr/>
        <p:txBody>
          <a:bodyPr>
            <a:normAutofit/>
          </a:bodyPr>
          <a:lstStyle/>
          <a:p>
            <a:r>
              <a:rPr lang="en-US" dirty="0"/>
              <a:t>Receives data from internal and external senses.</a:t>
            </a:r>
          </a:p>
          <a:p>
            <a:r>
              <a:rPr lang="en-US" dirty="0"/>
              <a:t>It is the objective reality.</a:t>
            </a:r>
          </a:p>
          <a:p>
            <a:r>
              <a:rPr lang="en-US" dirty="0"/>
              <a:t>Humans acquire data as size, shape, motion, color, odor, mass, and temperature in time and space.</a:t>
            </a:r>
          </a:p>
          <a:p>
            <a:r>
              <a:rPr lang="en-US" dirty="0"/>
              <a:t>The Reason System receives, sorts, compiles, and processes this empirical data, using only that which is applicable to itself in the Phenomenon Subsystem.</a:t>
            </a:r>
          </a:p>
          <a:p>
            <a:r>
              <a:rPr lang="en-US" dirty="0"/>
              <a:t>Processed data is placed in the raw database, where it is picked up by the </a:t>
            </a:r>
            <a:r>
              <a:rPr lang="en-US" dirty="0" err="1"/>
              <a:t>Noumenon</a:t>
            </a:r>
            <a:r>
              <a:rPr lang="en-US" dirty="0"/>
              <a:t>.</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42</a:t>
            </a:fld>
            <a:endParaRPr lang="en-US"/>
          </a:p>
        </p:txBody>
      </p:sp>
    </p:spTree>
    <p:extLst>
      <p:ext uri="{BB962C8B-B14F-4D97-AF65-F5344CB8AC3E}">
        <p14:creationId xmlns:p14="http://schemas.microsoft.com/office/powerpoint/2010/main" val="3827908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a:t>
            </a:r>
            <a:r>
              <a:rPr lang="en-US" dirty="0" err="1"/>
              <a:t>Noumenon</a:t>
            </a:r>
            <a:endParaRPr lang="en-US" dirty="0"/>
          </a:p>
        </p:txBody>
      </p:sp>
      <p:sp>
        <p:nvSpPr>
          <p:cNvPr id="3" name="Content Placeholder 2"/>
          <p:cNvSpPr>
            <a:spLocks noGrp="1"/>
          </p:cNvSpPr>
          <p:nvPr>
            <p:ph idx="1"/>
          </p:nvPr>
        </p:nvSpPr>
        <p:spPr/>
        <p:txBody>
          <a:bodyPr>
            <a:normAutofit lnSpcReduction="10000"/>
          </a:bodyPr>
          <a:lstStyle/>
          <a:p>
            <a:r>
              <a:rPr lang="en-US" dirty="0"/>
              <a:t>Takes the data from the Phenomenon, compiles, and translates into the human language of the constellation.</a:t>
            </a:r>
          </a:p>
          <a:p>
            <a:r>
              <a:rPr lang="en-US" dirty="0"/>
              <a:t>Then the </a:t>
            </a:r>
            <a:r>
              <a:rPr lang="en-US" dirty="0" err="1"/>
              <a:t>Noumenon</a:t>
            </a:r>
            <a:r>
              <a:rPr lang="en-US" dirty="0"/>
              <a:t> prepares the language for interface with the rest of the Thought System and the other systems.</a:t>
            </a:r>
          </a:p>
          <a:p>
            <a:r>
              <a:rPr lang="en-US" dirty="0"/>
              <a:t>There is one </a:t>
            </a:r>
            <a:r>
              <a:rPr lang="en-US" dirty="0" err="1"/>
              <a:t>Noumenon</a:t>
            </a:r>
            <a:r>
              <a:rPr lang="en-US" dirty="0"/>
              <a:t> subsystem in each of the systems of the constellation.</a:t>
            </a:r>
          </a:p>
          <a:p>
            <a:r>
              <a:rPr lang="en-US" dirty="0"/>
              <a:t>Enables communication among systems.</a:t>
            </a:r>
          </a:p>
          <a:p>
            <a:r>
              <a:rPr lang="en-US" dirty="0"/>
              <a:t>Noumena: Thought Fragments.</a:t>
            </a:r>
          </a:p>
          <a:p>
            <a:pPr lvl="1"/>
            <a:r>
              <a:rPr lang="en-US" dirty="0"/>
              <a:t>The Reason System provides input to the Thought System in the form of “thought fragments.” They are incomplete until the Nexus </a:t>
            </a:r>
            <a:r>
              <a:rPr lang="en-US" dirty="0" err="1"/>
              <a:t>Cogitationis</a:t>
            </a:r>
            <a:r>
              <a:rPr lang="en-US" dirty="0"/>
              <a:t> has compiled the entire thought.</a:t>
            </a:r>
          </a:p>
          <a:p>
            <a:pPr lvl="1"/>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43</a:t>
            </a:fld>
            <a:endParaRPr lang="en-US"/>
          </a:p>
        </p:txBody>
      </p:sp>
    </p:spTree>
    <p:extLst>
      <p:ext uri="{BB962C8B-B14F-4D97-AF65-F5344CB8AC3E}">
        <p14:creationId xmlns:p14="http://schemas.microsoft.com/office/powerpoint/2010/main" val="35929089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Reason: </a:t>
            </a:r>
            <a:r>
              <a:rPr lang="en-US" dirty="0" err="1"/>
              <a:t>Noumenon</a:t>
            </a:r>
            <a:endParaRPr lang="en-US" dirty="0"/>
          </a:p>
        </p:txBody>
      </p:sp>
      <p:sp>
        <p:nvSpPr>
          <p:cNvPr id="3" name="Content Placeholder 2"/>
          <p:cNvSpPr>
            <a:spLocks noGrp="1"/>
          </p:cNvSpPr>
          <p:nvPr>
            <p:ph idx="1"/>
          </p:nvPr>
        </p:nvSpPr>
        <p:spPr/>
        <p:txBody>
          <a:bodyPr>
            <a:normAutofit/>
          </a:bodyPr>
          <a:lstStyle/>
          <a:p>
            <a:r>
              <a:rPr lang="en-US" dirty="0"/>
              <a:t>Noumena: Thought Fragments.</a:t>
            </a:r>
          </a:p>
          <a:p>
            <a:pPr lvl="1"/>
            <a:r>
              <a:rPr lang="en-US" dirty="0"/>
              <a:t>The Reason System provides input to the Thought System in the form of “thought fragments.” They are incomplete until the Nexus </a:t>
            </a:r>
            <a:r>
              <a:rPr lang="en-US" dirty="0" err="1"/>
              <a:t>Cogitationis</a:t>
            </a:r>
            <a:r>
              <a:rPr lang="en-US" dirty="0"/>
              <a:t> has compiled the entire thought.</a:t>
            </a:r>
          </a:p>
          <a:p>
            <a:pPr lvl="1"/>
            <a:r>
              <a:rPr lang="en-US" dirty="0"/>
              <a:t>Thought fragments are the basis for a priori concepts and are not based on objective truth or empirical data (pipe sections, flow paths, etc.).</a:t>
            </a:r>
          </a:p>
          <a:p>
            <a:pPr lvl="1"/>
            <a:r>
              <a:rPr lang="en-US" dirty="0"/>
              <a:t>Thought fragments the Reason provides to the Thought System and the Nexus </a:t>
            </a:r>
            <a:r>
              <a:rPr lang="en-US" dirty="0" err="1"/>
              <a:t>cogitationis</a:t>
            </a:r>
            <a:r>
              <a:rPr lang="en-US" dirty="0"/>
              <a:t> are what contemplation and transcendental thinking are composed of.</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44</a:t>
            </a:fld>
            <a:endParaRPr lang="en-US"/>
          </a:p>
        </p:txBody>
      </p:sp>
    </p:spTree>
    <p:extLst>
      <p:ext uri="{BB962C8B-B14F-4D97-AF65-F5344CB8AC3E}">
        <p14:creationId xmlns:p14="http://schemas.microsoft.com/office/powerpoint/2010/main" val="33557399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Intellect System</a:t>
            </a:r>
          </a:p>
        </p:txBody>
      </p:sp>
      <p:sp>
        <p:nvSpPr>
          <p:cNvPr id="3" name="Content Placeholder 2"/>
          <p:cNvSpPr>
            <a:spLocks noGrp="1"/>
          </p:cNvSpPr>
          <p:nvPr>
            <p:ph idx="1"/>
          </p:nvPr>
        </p:nvSpPr>
        <p:spPr/>
        <p:txBody>
          <a:bodyPr/>
          <a:lstStyle/>
          <a:p>
            <a:r>
              <a:rPr lang="en-US" dirty="0"/>
              <a:t>The role of the Intellect System is that of the “librarian” of the autonomous system.</a:t>
            </a:r>
          </a:p>
          <a:p>
            <a:r>
              <a:rPr lang="en-US" dirty="0"/>
              <a:t>The primary function is to create knowledge from abstract data and experience data.</a:t>
            </a:r>
          </a:p>
          <a:p>
            <a:r>
              <a:rPr lang="en-US" dirty="0"/>
              <a:t>The architecture of the Intellect System is composed of the following subsystems: </a:t>
            </a:r>
            <a:r>
              <a:rPr lang="en-US" dirty="0" err="1"/>
              <a:t>Noumenon</a:t>
            </a:r>
            <a:r>
              <a:rPr lang="en-US" dirty="0"/>
              <a:t>, Phenomenon, Abstract, Experience, Knowledge.</a:t>
            </a:r>
          </a:p>
          <a:p>
            <a:r>
              <a:rPr lang="en-US" dirty="0">
                <a:solidFill>
                  <a:srgbClr val="FF0000"/>
                </a:solidFill>
              </a:rPr>
              <a:t>What does it mean to make an “intelligent” decision or conclusion?</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45</a:t>
            </a:fld>
            <a:endParaRPr lang="en-US"/>
          </a:p>
        </p:txBody>
      </p:sp>
    </p:spTree>
    <p:extLst>
      <p:ext uri="{BB962C8B-B14F-4D97-AF65-F5344CB8AC3E}">
        <p14:creationId xmlns:p14="http://schemas.microsoft.com/office/powerpoint/2010/main" val="14655694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Intellect System: Abstract Subsystem</a:t>
            </a:r>
          </a:p>
        </p:txBody>
      </p:sp>
      <p:sp>
        <p:nvSpPr>
          <p:cNvPr id="3" name="Content Placeholder 2"/>
          <p:cNvSpPr>
            <a:spLocks noGrp="1"/>
          </p:cNvSpPr>
          <p:nvPr>
            <p:ph idx="1"/>
          </p:nvPr>
        </p:nvSpPr>
        <p:spPr/>
        <p:txBody>
          <a:bodyPr/>
          <a:lstStyle/>
          <a:p>
            <a:r>
              <a:rPr lang="en-US" dirty="0"/>
              <a:t>Records, files, and processes for use all information acquired from secondary sources.</a:t>
            </a:r>
          </a:p>
        </p:txBody>
      </p:sp>
      <p:sp>
        <p:nvSpPr>
          <p:cNvPr id="4" name="Slide Number Placeholder 3"/>
          <p:cNvSpPr>
            <a:spLocks noGrp="1"/>
          </p:cNvSpPr>
          <p:nvPr>
            <p:ph type="sldNum" sz="quarter" idx="12"/>
          </p:nvPr>
        </p:nvSpPr>
        <p:spPr/>
        <p:txBody>
          <a:bodyPr/>
          <a:lstStyle/>
          <a:p>
            <a:fld id="{0267D5B8-E44A-4D0F-96C7-902652BCFAA0}" type="slidenum">
              <a:rPr lang="en-US" smtClean="0"/>
              <a:t>46</a:t>
            </a:fld>
            <a:endParaRPr lang="en-US"/>
          </a:p>
        </p:txBody>
      </p:sp>
    </p:spTree>
    <p:extLst>
      <p:ext uri="{BB962C8B-B14F-4D97-AF65-F5344CB8AC3E}">
        <p14:creationId xmlns:p14="http://schemas.microsoft.com/office/powerpoint/2010/main" val="16371861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Intellect System: Experience Subsystem</a:t>
            </a:r>
          </a:p>
        </p:txBody>
      </p:sp>
      <p:sp>
        <p:nvSpPr>
          <p:cNvPr id="3" name="Content Placeholder 2"/>
          <p:cNvSpPr>
            <a:spLocks noGrp="1"/>
          </p:cNvSpPr>
          <p:nvPr>
            <p:ph idx="1"/>
          </p:nvPr>
        </p:nvSpPr>
        <p:spPr/>
        <p:txBody>
          <a:bodyPr/>
          <a:lstStyle/>
          <a:p>
            <a:r>
              <a:rPr lang="en-US" dirty="0"/>
              <a:t>Stores, files, and processes the knowledge acquired through physical experience.</a:t>
            </a:r>
          </a:p>
          <a:p>
            <a:r>
              <a:rPr lang="en-US" dirty="0"/>
              <a:t>Where the abstract information will not do much for the survival of a species, knowledge based on experience is sufficient for survival.</a:t>
            </a:r>
          </a:p>
        </p:txBody>
      </p:sp>
      <p:sp>
        <p:nvSpPr>
          <p:cNvPr id="4" name="Slide Number Placeholder 3"/>
          <p:cNvSpPr>
            <a:spLocks noGrp="1"/>
          </p:cNvSpPr>
          <p:nvPr>
            <p:ph type="sldNum" sz="quarter" idx="12"/>
          </p:nvPr>
        </p:nvSpPr>
        <p:spPr/>
        <p:txBody>
          <a:bodyPr/>
          <a:lstStyle/>
          <a:p>
            <a:fld id="{0267D5B8-E44A-4D0F-96C7-902652BCFAA0}" type="slidenum">
              <a:rPr lang="en-US" smtClean="0"/>
              <a:t>47</a:t>
            </a:fld>
            <a:endParaRPr lang="en-US"/>
          </a:p>
        </p:txBody>
      </p:sp>
    </p:spTree>
    <p:extLst>
      <p:ext uri="{BB962C8B-B14F-4D97-AF65-F5344CB8AC3E}">
        <p14:creationId xmlns:p14="http://schemas.microsoft.com/office/powerpoint/2010/main" val="3963167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Intellect System: Knowledge Subsystem</a:t>
            </a:r>
          </a:p>
        </p:txBody>
      </p:sp>
      <p:sp>
        <p:nvSpPr>
          <p:cNvPr id="3" name="Content Placeholder 2"/>
          <p:cNvSpPr>
            <a:spLocks noGrp="1"/>
          </p:cNvSpPr>
          <p:nvPr>
            <p:ph idx="1"/>
          </p:nvPr>
        </p:nvSpPr>
        <p:spPr/>
        <p:txBody>
          <a:bodyPr/>
          <a:lstStyle/>
          <a:p>
            <a:r>
              <a:rPr lang="en-US" dirty="0"/>
              <a:t>Processes the abstract information and knowledge gained through experience into real and practical knowledge.</a:t>
            </a:r>
          </a:p>
          <a:p>
            <a:r>
              <a:rPr lang="en-US" dirty="0"/>
              <a:t>It processes (evaluates, categorizes, prioritizes, integrates, synthesizes, and stores) the data and applies them in the sum of knowledge needed by the autonomous system to perform its mission accurately and efficiently.</a:t>
            </a:r>
          </a:p>
        </p:txBody>
      </p:sp>
      <p:sp>
        <p:nvSpPr>
          <p:cNvPr id="4" name="Slide Number Placeholder 3"/>
          <p:cNvSpPr>
            <a:spLocks noGrp="1"/>
          </p:cNvSpPr>
          <p:nvPr>
            <p:ph type="sldNum" sz="quarter" idx="12"/>
          </p:nvPr>
        </p:nvSpPr>
        <p:spPr/>
        <p:txBody>
          <a:bodyPr/>
          <a:lstStyle/>
          <a:p>
            <a:fld id="{0267D5B8-E44A-4D0F-96C7-902652BCFAA0}" type="slidenum">
              <a:rPr lang="en-US" smtClean="0"/>
              <a:t>48</a:t>
            </a:fld>
            <a:endParaRPr lang="en-US"/>
          </a:p>
        </p:txBody>
      </p:sp>
    </p:spTree>
    <p:extLst>
      <p:ext uri="{BB962C8B-B14F-4D97-AF65-F5344CB8AC3E}">
        <p14:creationId xmlns:p14="http://schemas.microsoft.com/office/powerpoint/2010/main" val="7292175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Interfaces of The Intellect System</a:t>
            </a:r>
          </a:p>
        </p:txBody>
      </p:sp>
      <p:sp>
        <p:nvSpPr>
          <p:cNvPr id="3" name="Content Placeholder 2"/>
          <p:cNvSpPr>
            <a:spLocks noGrp="1"/>
          </p:cNvSpPr>
          <p:nvPr>
            <p:ph idx="1"/>
          </p:nvPr>
        </p:nvSpPr>
        <p:spPr/>
        <p:txBody>
          <a:bodyPr/>
          <a:lstStyle/>
          <a:p>
            <a:r>
              <a:rPr lang="en-US" dirty="0"/>
              <a:t>Phenomenon and </a:t>
            </a:r>
            <a:r>
              <a:rPr lang="en-US" dirty="0" err="1"/>
              <a:t>Noumenon</a:t>
            </a:r>
            <a:r>
              <a:rPr lang="en-US" dirty="0"/>
              <a:t> networks.</a:t>
            </a:r>
          </a:p>
          <a:p>
            <a:r>
              <a:rPr lang="en-US" dirty="0"/>
              <a:t>Sensory system provides data from external sensors.</a:t>
            </a:r>
          </a:p>
          <a:p>
            <a:r>
              <a:rPr lang="en-US" dirty="0"/>
              <a:t>The </a:t>
            </a:r>
            <a:r>
              <a:rPr lang="en-US" dirty="0" err="1"/>
              <a:t>Noumenon</a:t>
            </a:r>
            <a:r>
              <a:rPr lang="en-US" dirty="0"/>
              <a:t> network operates in the human language selected for internal thinking and communication among systems of the constellation.</a:t>
            </a:r>
          </a:p>
          <a:p>
            <a:r>
              <a:rPr lang="en-US" dirty="0"/>
              <a:t>Systems of the constellation engage in monologues, dialogues, and conferences regarding their databases, the validity of their sensory information, and putting substance to the objects under consideration.</a:t>
            </a:r>
          </a:p>
        </p:txBody>
      </p:sp>
      <p:sp>
        <p:nvSpPr>
          <p:cNvPr id="4" name="Slide Number Placeholder 3"/>
          <p:cNvSpPr>
            <a:spLocks noGrp="1"/>
          </p:cNvSpPr>
          <p:nvPr>
            <p:ph type="sldNum" sz="quarter" idx="12"/>
          </p:nvPr>
        </p:nvSpPr>
        <p:spPr/>
        <p:txBody>
          <a:bodyPr/>
          <a:lstStyle/>
          <a:p>
            <a:fld id="{0267D5B8-E44A-4D0F-96C7-902652BCFAA0}" type="slidenum">
              <a:rPr lang="en-US" smtClean="0"/>
              <a:t>49</a:t>
            </a:fld>
            <a:endParaRPr lang="en-US"/>
          </a:p>
        </p:txBody>
      </p:sp>
    </p:spTree>
    <p:extLst>
      <p:ext uri="{BB962C8B-B14F-4D97-AF65-F5344CB8AC3E}">
        <p14:creationId xmlns:p14="http://schemas.microsoft.com/office/powerpoint/2010/main" val="18030609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Presentation System</a:t>
            </a:r>
          </a:p>
        </p:txBody>
      </p:sp>
      <p:sp>
        <p:nvSpPr>
          <p:cNvPr id="3" name="Content Placeholder 2"/>
          <p:cNvSpPr>
            <a:spLocks noGrp="1"/>
          </p:cNvSpPr>
          <p:nvPr>
            <p:ph idx="1"/>
          </p:nvPr>
        </p:nvSpPr>
        <p:spPr/>
        <p:txBody>
          <a:bodyPr/>
          <a:lstStyle/>
          <a:p>
            <a:r>
              <a:rPr lang="en-US" dirty="0"/>
              <a:t>Every member of the constellation architecture must present its outputs through the language of the constellation.</a:t>
            </a:r>
          </a:p>
          <a:p>
            <a:r>
              <a:rPr lang="en-US" dirty="0"/>
              <a:t>The language of the constellation includes all forms of presentation, including text embodying semantics according to a defined ontology, graphics, tables, images, etc.</a:t>
            </a:r>
          </a:p>
        </p:txBody>
      </p:sp>
      <p:sp>
        <p:nvSpPr>
          <p:cNvPr id="4" name="Slide Number Placeholder 3"/>
          <p:cNvSpPr>
            <a:spLocks noGrp="1"/>
          </p:cNvSpPr>
          <p:nvPr>
            <p:ph type="sldNum" sz="quarter" idx="12"/>
          </p:nvPr>
        </p:nvSpPr>
        <p:spPr/>
        <p:txBody>
          <a:bodyPr/>
          <a:lstStyle/>
          <a:p>
            <a:fld id="{0267D5B8-E44A-4D0F-96C7-902652BCFAA0}" type="slidenum">
              <a:rPr lang="en-US" smtClean="0"/>
              <a:t>50</a:t>
            </a:fld>
            <a:endParaRPr lang="en-US"/>
          </a:p>
        </p:txBody>
      </p:sp>
    </p:spTree>
    <p:extLst>
      <p:ext uri="{BB962C8B-B14F-4D97-AF65-F5344CB8AC3E}">
        <p14:creationId xmlns:p14="http://schemas.microsoft.com/office/powerpoint/2010/main" val="2468060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Understanding System</a:t>
            </a:r>
          </a:p>
        </p:txBody>
      </p:sp>
      <p:sp>
        <p:nvSpPr>
          <p:cNvPr id="3" name="Content Placeholder 2"/>
          <p:cNvSpPr>
            <a:spLocks noGrp="1"/>
          </p:cNvSpPr>
          <p:nvPr>
            <p:ph idx="1"/>
          </p:nvPr>
        </p:nvSpPr>
        <p:spPr/>
        <p:txBody>
          <a:bodyPr>
            <a:normAutofit/>
          </a:bodyPr>
          <a:lstStyle/>
          <a:p>
            <a:r>
              <a:rPr lang="en-US" dirty="0"/>
              <a:t>Produces understanding as a product, apart from knowledge.</a:t>
            </a:r>
          </a:p>
          <a:p>
            <a:r>
              <a:rPr lang="en-US" dirty="0"/>
              <a:t>3 major subsystems:</a:t>
            </a:r>
          </a:p>
          <a:p>
            <a:pPr lvl="1"/>
            <a:r>
              <a:rPr lang="en-US" dirty="0"/>
              <a:t>The Form of All Appearances.</a:t>
            </a:r>
          </a:p>
          <a:p>
            <a:pPr lvl="1"/>
            <a:r>
              <a:rPr lang="en-US" dirty="0"/>
              <a:t>The Form of All Possibilities.</a:t>
            </a:r>
          </a:p>
          <a:p>
            <a:pPr lvl="1"/>
            <a:r>
              <a:rPr lang="en-US" dirty="0"/>
              <a:t>The Understanding Preparation.</a:t>
            </a:r>
          </a:p>
          <a:p>
            <a:r>
              <a:rPr lang="en-US" dirty="0"/>
              <a:t>It is the synthesis of the product of all appearances and all possibilities.</a:t>
            </a:r>
          </a:p>
          <a:p>
            <a:r>
              <a:rPr lang="en-US" dirty="0"/>
              <a:t>It also includes the Phenomenon and </a:t>
            </a:r>
            <a:r>
              <a:rPr lang="en-US" dirty="0" err="1"/>
              <a:t>Noumenon</a:t>
            </a:r>
            <a:r>
              <a:rPr lang="en-US" dirty="0"/>
              <a:t> subsystems, through which it receives and sends data.</a:t>
            </a:r>
          </a:p>
        </p:txBody>
      </p:sp>
      <p:sp>
        <p:nvSpPr>
          <p:cNvPr id="4" name="Slide Number Placeholder 3"/>
          <p:cNvSpPr>
            <a:spLocks noGrp="1"/>
          </p:cNvSpPr>
          <p:nvPr>
            <p:ph type="sldNum" sz="quarter" idx="12"/>
          </p:nvPr>
        </p:nvSpPr>
        <p:spPr/>
        <p:txBody>
          <a:bodyPr/>
          <a:lstStyle/>
          <a:p>
            <a:fld id="{0267D5B8-E44A-4D0F-96C7-902652BCFAA0}" type="slidenum">
              <a:rPr lang="en-US" smtClean="0"/>
              <a:t>51</a:t>
            </a:fld>
            <a:endParaRPr lang="en-US"/>
          </a:p>
        </p:txBody>
      </p:sp>
    </p:spTree>
    <p:extLst>
      <p:ext uri="{BB962C8B-B14F-4D97-AF65-F5344CB8AC3E}">
        <p14:creationId xmlns:p14="http://schemas.microsoft.com/office/powerpoint/2010/main" val="4229988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Understanding System</a:t>
            </a:r>
          </a:p>
        </p:txBody>
      </p:sp>
      <p:sp>
        <p:nvSpPr>
          <p:cNvPr id="3" name="Content Placeholder 2"/>
          <p:cNvSpPr>
            <a:spLocks noGrp="1"/>
          </p:cNvSpPr>
          <p:nvPr>
            <p:ph idx="1"/>
          </p:nvPr>
        </p:nvSpPr>
        <p:spPr/>
        <p:txBody>
          <a:bodyPr>
            <a:normAutofit/>
          </a:bodyPr>
          <a:lstStyle/>
          <a:p>
            <a:r>
              <a:rPr lang="en-US" dirty="0"/>
              <a:t>Understanding means that one reflects on a situation, a thing, an event, or condition, and considers all of the possibilities the thing represents, beneficial or harmful, desirable or undesirable, which can result from a decision made by the mind, which is the constellation collectively.</a:t>
            </a:r>
          </a:p>
        </p:txBody>
      </p:sp>
      <p:sp>
        <p:nvSpPr>
          <p:cNvPr id="4" name="Slide Number Placeholder 3"/>
          <p:cNvSpPr>
            <a:spLocks noGrp="1"/>
          </p:cNvSpPr>
          <p:nvPr>
            <p:ph type="sldNum" sz="quarter" idx="12"/>
          </p:nvPr>
        </p:nvSpPr>
        <p:spPr/>
        <p:txBody>
          <a:bodyPr/>
          <a:lstStyle/>
          <a:p>
            <a:fld id="{0267D5B8-E44A-4D0F-96C7-902652BCFAA0}" type="slidenum">
              <a:rPr lang="en-US" smtClean="0"/>
              <a:t>52</a:t>
            </a:fld>
            <a:endParaRPr lang="en-US"/>
          </a:p>
        </p:txBody>
      </p:sp>
    </p:spTree>
    <p:extLst>
      <p:ext uri="{BB962C8B-B14F-4D97-AF65-F5344CB8AC3E}">
        <p14:creationId xmlns:p14="http://schemas.microsoft.com/office/powerpoint/2010/main" val="2179975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The Form of All Possibilities Subsystem</a:t>
            </a:r>
          </a:p>
        </p:txBody>
      </p:sp>
      <p:sp>
        <p:nvSpPr>
          <p:cNvPr id="3" name="Content Placeholder 2"/>
          <p:cNvSpPr>
            <a:spLocks noGrp="1"/>
          </p:cNvSpPr>
          <p:nvPr>
            <p:ph idx="1"/>
          </p:nvPr>
        </p:nvSpPr>
        <p:spPr/>
        <p:txBody>
          <a:bodyPr/>
          <a:lstStyle/>
          <a:p>
            <a:pPr marL="0" indent="0">
              <a:buNone/>
            </a:pPr>
            <a:r>
              <a:rPr lang="en-US" dirty="0"/>
              <a:t>Logical Functions of the Understanding</a:t>
            </a:r>
          </a:p>
          <a:p>
            <a:endParaRPr lang="en-US" dirty="0"/>
          </a:p>
          <a:p>
            <a:r>
              <a:rPr lang="en-US" dirty="0"/>
              <a:t>The Quantity of the Decision/</a:t>
            </a:r>
            <a:r>
              <a:rPr lang="en-US" dirty="0" err="1"/>
              <a:t>Veredict</a:t>
            </a:r>
            <a:r>
              <a:rPr lang="en-US" dirty="0"/>
              <a:t>: (1) general decisions, (2) particular decisions, (3) singular or individual decisions.</a:t>
            </a:r>
          </a:p>
          <a:p>
            <a:r>
              <a:rPr lang="en-US" dirty="0"/>
              <a:t>Quality: (1) agreement, (2) disagreement, (3) endless.</a:t>
            </a:r>
          </a:p>
          <a:p>
            <a:r>
              <a:rPr lang="en-US" dirty="0"/>
              <a:t>Relations (linkage of parts or wholes): (1) categorical, (2) hypothetical, (3) disjunctive.</a:t>
            </a:r>
          </a:p>
          <a:p>
            <a:r>
              <a:rPr lang="en-US" dirty="0"/>
              <a:t>Modality: (1) problematic, (2) assertive, (3) apodictic (clearly established or beyond dispute).</a:t>
            </a:r>
          </a:p>
          <a:p>
            <a:pPr marL="0" indent="0">
              <a:buNone/>
            </a:pPr>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53</a:t>
            </a:fld>
            <a:endParaRPr lang="en-US"/>
          </a:p>
        </p:txBody>
      </p:sp>
    </p:spTree>
    <p:extLst>
      <p:ext uri="{BB962C8B-B14F-4D97-AF65-F5344CB8AC3E}">
        <p14:creationId xmlns:p14="http://schemas.microsoft.com/office/powerpoint/2010/main" val="20802024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The Understanding Preparation Subsystem</a:t>
            </a:r>
          </a:p>
        </p:txBody>
      </p:sp>
      <p:sp>
        <p:nvSpPr>
          <p:cNvPr id="3" name="Content Placeholder 2"/>
          <p:cNvSpPr>
            <a:spLocks noGrp="1"/>
          </p:cNvSpPr>
          <p:nvPr>
            <p:ph idx="1"/>
          </p:nvPr>
        </p:nvSpPr>
        <p:spPr/>
        <p:txBody>
          <a:bodyPr/>
          <a:lstStyle/>
          <a:p>
            <a:r>
              <a:rPr lang="en-US" dirty="0"/>
              <a:t>Assembles and processes the form of all appearances and integrates these data with the form of all possibilities.</a:t>
            </a:r>
          </a:p>
        </p:txBody>
      </p:sp>
      <p:sp>
        <p:nvSpPr>
          <p:cNvPr id="4" name="Slide Number Placeholder 3"/>
          <p:cNvSpPr>
            <a:spLocks noGrp="1"/>
          </p:cNvSpPr>
          <p:nvPr>
            <p:ph type="sldNum" sz="quarter" idx="12"/>
          </p:nvPr>
        </p:nvSpPr>
        <p:spPr/>
        <p:txBody>
          <a:bodyPr/>
          <a:lstStyle/>
          <a:p>
            <a:fld id="{0267D5B8-E44A-4D0F-96C7-902652BCFAA0}" type="slidenum">
              <a:rPr lang="en-US" smtClean="0"/>
              <a:t>54</a:t>
            </a:fld>
            <a:endParaRPr lang="en-US"/>
          </a:p>
        </p:txBody>
      </p:sp>
    </p:spTree>
    <p:extLst>
      <p:ext uri="{BB962C8B-B14F-4D97-AF65-F5344CB8AC3E}">
        <p14:creationId xmlns:p14="http://schemas.microsoft.com/office/powerpoint/2010/main" val="279531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of the Sensory System</a:t>
            </a:r>
          </a:p>
        </p:txBody>
      </p:sp>
      <p:sp>
        <p:nvSpPr>
          <p:cNvPr id="3" name="Content Placeholder 2"/>
          <p:cNvSpPr>
            <a:spLocks noGrp="1"/>
          </p:cNvSpPr>
          <p:nvPr>
            <p:ph idx="1"/>
          </p:nvPr>
        </p:nvSpPr>
        <p:spPr/>
        <p:txBody>
          <a:bodyPr>
            <a:normAutofit fontScale="92500" lnSpcReduction="10000"/>
          </a:bodyPr>
          <a:lstStyle/>
          <a:p>
            <a:r>
              <a:rPr lang="en-US" dirty="0"/>
              <a:t>The goal is environmental awareness, both active and passive.</a:t>
            </a:r>
          </a:p>
          <a:p>
            <a:r>
              <a:rPr lang="en-US" dirty="0"/>
              <a:t>Its primary functional attribute is to monitor all internal states, as well as the environment external to the autonomous system.</a:t>
            </a:r>
          </a:p>
          <a:p>
            <a:r>
              <a:rPr lang="en-US" dirty="0"/>
              <a:t>It is the repository of all mechanical and software systems’ standards and limits, with the purpose of ensuring the health of the autonomous system.</a:t>
            </a:r>
          </a:p>
          <a:p>
            <a:r>
              <a:rPr lang="en-US" dirty="0"/>
              <a:t>Subsystems: (1) Autonomous System State Subsystem, (2) Propulsion, (3) Motion, (4) Manipulation, and (5) Standards and Limits.</a:t>
            </a:r>
          </a:p>
          <a:p>
            <a:r>
              <a:rPr lang="en-US" dirty="0"/>
              <a:t>The Sensory system is responsible for the acquisition, processing, linking, coupling, formatting, and delivery of all environmental data to the constellation of the mind of the autonomous system (all the cognitive functions of the autonomous system).</a:t>
            </a:r>
          </a:p>
        </p:txBody>
      </p:sp>
      <p:sp>
        <p:nvSpPr>
          <p:cNvPr id="4" name="Slide Number Placeholder 3"/>
          <p:cNvSpPr>
            <a:spLocks noGrp="1"/>
          </p:cNvSpPr>
          <p:nvPr>
            <p:ph type="sldNum" sz="quarter" idx="12"/>
          </p:nvPr>
        </p:nvSpPr>
        <p:spPr/>
        <p:txBody>
          <a:bodyPr/>
          <a:lstStyle/>
          <a:p>
            <a:fld id="{0267D5B8-E44A-4D0F-96C7-902652BCFAA0}" type="slidenum">
              <a:rPr lang="en-US" smtClean="0"/>
              <a:t>55</a:t>
            </a:fld>
            <a:endParaRPr lang="en-US"/>
          </a:p>
        </p:txBody>
      </p:sp>
    </p:spTree>
    <p:extLst>
      <p:ext uri="{BB962C8B-B14F-4D97-AF65-F5344CB8AC3E}">
        <p14:creationId xmlns:p14="http://schemas.microsoft.com/office/powerpoint/2010/main" val="3230732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Sensory System</a:t>
            </a:r>
          </a:p>
        </p:txBody>
      </p:sp>
      <p:sp>
        <p:nvSpPr>
          <p:cNvPr id="3" name="Content Placeholder 2"/>
          <p:cNvSpPr>
            <a:spLocks noGrp="1"/>
          </p:cNvSpPr>
          <p:nvPr>
            <p:ph idx="1"/>
          </p:nvPr>
        </p:nvSpPr>
        <p:spPr/>
        <p:txBody>
          <a:bodyPr>
            <a:normAutofit/>
          </a:bodyPr>
          <a:lstStyle/>
          <a:p>
            <a:r>
              <a:rPr lang="en-US" dirty="0"/>
              <a:t>Phenomenon subsystem; the lesser subsystems are the </a:t>
            </a:r>
            <a:r>
              <a:rPr lang="en-US" dirty="0" err="1"/>
              <a:t>Noumenon</a:t>
            </a:r>
            <a:r>
              <a:rPr lang="en-US" dirty="0"/>
              <a:t> subsystem, the Propulsion, Motion, and Manipulation subsystem, the Standards and Limits subsystem, and the Autonomous System State subsystem.</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56</a:t>
            </a:fld>
            <a:endParaRPr lang="en-US"/>
          </a:p>
        </p:txBody>
      </p:sp>
    </p:spTree>
    <p:extLst>
      <p:ext uri="{BB962C8B-B14F-4D97-AF65-F5344CB8AC3E}">
        <p14:creationId xmlns:p14="http://schemas.microsoft.com/office/powerpoint/2010/main" val="5678581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Sensory System: </a:t>
            </a:r>
            <a:r>
              <a:rPr lang="en-US" dirty="0" err="1"/>
              <a:t>Phenomenom</a:t>
            </a:r>
            <a:r>
              <a:rPr lang="en-US" dirty="0"/>
              <a:t> Subsystem</a:t>
            </a:r>
          </a:p>
        </p:txBody>
      </p:sp>
      <p:sp>
        <p:nvSpPr>
          <p:cNvPr id="3" name="Content Placeholder 2"/>
          <p:cNvSpPr>
            <a:spLocks noGrp="1"/>
          </p:cNvSpPr>
          <p:nvPr>
            <p:ph idx="1"/>
          </p:nvPr>
        </p:nvSpPr>
        <p:spPr/>
        <p:txBody>
          <a:bodyPr>
            <a:normAutofit lnSpcReduction="10000"/>
          </a:bodyPr>
          <a:lstStyle/>
          <a:p>
            <a:r>
              <a:rPr lang="en-US" dirty="0"/>
              <a:t>Program set for the external sensory system may include.</a:t>
            </a:r>
          </a:p>
          <a:p>
            <a:pPr lvl="1"/>
            <a:r>
              <a:rPr lang="en-US" dirty="0"/>
              <a:t>Size detection and the continuation of the moment of discretion</a:t>
            </a:r>
          </a:p>
          <a:p>
            <a:pPr lvl="1"/>
            <a:r>
              <a:rPr lang="en-US" dirty="0"/>
              <a:t>Mass detection and its unending and unlimited quantum (quality and mathematics), including the physical and “spiritual” quanta (matter without mass), as in Hegel's </a:t>
            </a:r>
            <a:r>
              <a:rPr lang="en-US" dirty="0" err="1"/>
              <a:t>Phänomenologie</a:t>
            </a:r>
            <a:r>
              <a:rPr lang="en-US" dirty="0"/>
              <a:t> des </a:t>
            </a:r>
            <a:r>
              <a:rPr lang="en-US" dirty="0" err="1"/>
              <a:t>Geistes</a:t>
            </a:r>
            <a:r>
              <a:rPr lang="en-US" dirty="0"/>
              <a:t> . </a:t>
            </a:r>
          </a:p>
          <a:p>
            <a:pPr lvl="1"/>
            <a:r>
              <a:rPr lang="en-US" dirty="0"/>
              <a:t>Form detection in all presentations Motion detection: Newton's thoughts on motion and acceleration in time and space.</a:t>
            </a:r>
          </a:p>
          <a:p>
            <a:pPr lvl="1"/>
            <a:r>
              <a:rPr lang="en-US" dirty="0"/>
              <a:t>Photonic detection: frequency, energy, quantity, color distribution, and temperature.</a:t>
            </a:r>
          </a:p>
          <a:p>
            <a:pPr lvl="1"/>
            <a:r>
              <a:rPr lang="en-US" dirty="0"/>
              <a:t>Radioactivity detection.</a:t>
            </a:r>
          </a:p>
          <a:p>
            <a:pPr lvl="1"/>
            <a:r>
              <a:rPr lang="en-US" dirty="0"/>
              <a:t>Charged particle detection.</a:t>
            </a:r>
          </a:p>
          <a:p>
            <a:pPr lvl="1"/>
            <a:r>
              <a:rPr lang="en-US" dirty="0"/>
              <a:t>Plasma detection.</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57</a:t>
            </a:fld>
            <a:endParaRPr lang="en-US"/>
          </a:p>
        </p:txBody>
      </p:sp>
    </p:spTree>
    <p:extLst>
      <p:ext uri="{BB962C8B-B14F-4D97-AF65-F5344CB8AC3E}">
        <p14:creationId xmlns:p14="http://schemas.microsoft.com/office/powerpoint/2010/main" val="260003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Sensory System: </a:t>
            </a:r>
            <a:r>
              <a:rPr lang="en-US" dirty="0" err="1"/>
              <a:t>Phenomenom</a:t>
            </a:r>
            <a:r>
              <a:rPr lang="en-US" dirty="0"/>
              <a:t> Subsystem</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Program set for the internal sensory system may include.</a:t>
            </a:r>
          </a:p>
          <a:p>
            <a:r>
              <a:rPr lang="en-US" dirty="0"/>
              <a:t>Joint Operation.</a:t>
            </a:r>
          </a:p>
          <a:p>
            <a:r>
              <a:rPr lang="en-US" dirty="0"/>
              <a:t>Standards and Limits.</a:t>
            </a:r>
          </a:p>
          <a:p>
            <a:r>
              <a:rPr lang="en-US" dirty="0"/>
              <a:t>Parts: Mechanical, Electrical, Optical Motorized.</a:t>
            </a:r>
          </a:p>
          <a:p>
            <a:r>
              <a:rPr lang="en-US" dirty="0"/>
              <a:t>Temperatures.</a:t>
            </a:r>
          </a:p>
          <a:p>
            <a:r>
              <a:rPr lang="en-US" dirty="0"/>
              <a:t>Radiation Exposure Levels.</a:t>
            </a:r>
          </a:p>
          <a:p>
            <a:r>
              <a:rPr lang="en-US" dirty="0"/>
              <a:t>Wear, Fitness, and Age.</a:t>
            </a:r>
          </a:p>
          <a:p>
            <a:r>
              <a:rPr lang="en-US" dirty="0"/>
              <a:t>Energy: Systemic Voltage Levels, Systemic Storage Levels.</a:t>
            </a:r>
          </a:p>
          <a:p>
            <a:pPr lvl="1"/>
            <a:r>
              <a:rPr lang="en-US" dirty="0"/>
              <a:t>Sources: Solar Radiation, Radio Thermal Generator, Gasses for Ion Propulsion, Solar Sails, and so on.</a:t>
            </a:r>
          </a:p>
          <a:p>
            <a:r>
              <a:rPr lang="en-US" dirty="0"/>
              <a:t>Systemic Requirements.</a:t>
            </a:r>
          </a:p>
        </p:txBody>
      </p:sp>
      <p:sp>
        <p:nvSpPr>
          <p:cNvPr id="4" name="Slide Number Placeholder 3"/>
          <p:cNvSpPr>
            <a:spLocks noGrp="1"/>
          </p:cNvSpPr>
          <p:nvPr>
            <p:ph type="sldNum" sz="quarter" idx="12"/>
          </p:nvPr>
        </p:nvSpPr>
        <p:spPr/>
        <p:txBody>
          <a:bodyPr/>
          <a:lstStyle/>
          <a:p>
            <a:fld id="{0267D5B8-E44A-4D0F-96C7-902652BCFAA0}" type="slidenum">
              <a:rPr lang="en-US" smtClean="0"/>
              <a:t>58</a:t>
            </a:fld>
            <a:endParaRPr lang="en-US"/>
          </a:p>
        </p:txBody>
      </p:sp>
    </p:spTree>
    <p:extLst>
      <p:ext uri="{BB962C8B-B14F-4D97-AF65-F5344CB8AC3E}">
        <p14:creationId xmlns:p14="http://schemas.microsoft.com/office/powerpoint/2010/main" val="40505838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 of the Sensory System: </a:t>
            </a:r>
            <a:r>
              <a:rPr lang="en-US" dirty="0" err="1"/>
              <a:t>Noumenom</a:t>
            </a:r>
            <a:r>
              <a:rPr lang="en-US" dirty="0"/>
              <a:t> Subsystem</a:t>
            </a:r>
          </a:p>
        </p:txBody>
      </p:sp>
      <p:sp>
        <p:nvSpPr>
          <p:cNvPr id="3" name="Content Placeholder 2"/>
          <p:cNvSpPr>
            <a:spLocks noGrp="1"/>
          </p:cNvSpPr>
          <p:nvPr>
            <p:ph idx="1"/>
          </p:nvPr>
        </p:nvSpPr>
        <p:spPr/>
        <p:txBody>
          <a:bodyPr>
            <a:normAutofit lnSpcReduction="10000"/>
          </a:bodyPr>
          <a:lstStyle/>
          <a:p>
            <a:pPr marL="0" indent="0">
              <a:buNone/>
            </a:pPr>
            <a:r>
              <a:rPr lang="en-US" dirty="0"/>
              <a:t>The Internal Sensory projects its acquired sensory data through the </a:t>
            </a:r>
            <a:r>
              <a:rPr lang="en-US" dirty="0" err="1"/>
              <a:t>Noumenon</a:t>
            </a:r>
            <a:r>
              <a:rPr lang="en-US" dirty="0"/>
              <a:t> as a composite object to the Presentation system and tags it with a simple question: What is this ?</a:t>
            </a:r>
          </a:p>
          <a:p>
            <a:pPr marL="0" indent="0">
              <a:buNone/>
            </a:pPr>
            <a:r>
              <a:rPr lang="en-US" dirty="0"/>
              <a:t>The question is then responded to by the Reason system, the Will system, the Understanding system, the Decision system, and the Intellect system.</a:t>
            </a:r>
          </a:p>
          <a:p>
            <a:pPr marL="0" indent="0">
              <a:buNone/>
            </a:pPr>
            <a:r>
              <a:rPr lang="en-US" dirty="0"/>
              <a:t>Each system independently processes the external sensory information it receives from the Phenomenon.</a:t>
            </a:r>
          </a:p>
          <a:p>
            <a:pPr marL="0" indent="0">
              <a:buNone/>
            </a:pPr>
            <a:r>
              <a:rPr lang="en-US" dirty="0"/>
              <a:t>When the Sensory system projects its thought fragment onto the Presentation, the other systems view it and add their own fragments of data.</a:t>
            </a:r>
          </a:p>
        </p:txBody>
      </p:sp>
      <p:sp>
        <p:nvSpPr>
          <p:cNvPr id="4" name="Slide Number Placeholder 3"/>
          <p:cNvSpPr>
            <a:spLocks noGrp="1"/>
          </p:cNvSpPr>
          <p:nvPr>
            <p:ph type="sldNum" sz="quarter" idx="12"/>
          </p:nvPr>
        </p:nvSpPr>
        <p:spPr/>
        <p:txBody>
          <a:bodyPr/>
          <a:lstStyle/>
          <a:p>
            <a:fld id="{0267D5B8-E44A-4D0F-96C7-902652BCFAA0}" type="slidenum">
              <a:rPr lang="en-US" smtClean="0"/>
              <a:t>59</a:t>
            </a:fld>
            <a:endParaRPr lang="en-US"/>
          </a:p>
        </p:txBody>
      </p:sp>
    </p:spTree>
    <p:extLst>
      <p:ext uri="{BB962C8B-B14F-4D97-AF65-F5344CB8AC3E}">
        <p14:creationId xmlns:p14="http://schemas.microsoft.com/office/powerpoint/2010/main" val="35542994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Decision System</a:t>
            </a:r>
          </a:p>
        </p:txBody>
      </p:sp>
      <p:sp>
        <p:nvSpPr>
          <p:cNvPr id="3" name="Content Placeholder 2"/>
          <p:cNvSpPr>
            <a:spLocks noGrp="1"/>
          </p:cNvSpPr>
          <p:nvPr>
            <p:ph idx="1"/>
          </p:nvPr>
        </p:nvSpPr>
        <p:spPr/>
        <p:txBody>
          <a:bodyPr/>
          <a:lstStyle/>
          <a:p>
            <a:r>
              <a:rPr lang="en-US" dirty="0"/>
              <a:t>It uninterruptedly assembles information in need of immediate decision and action.</a:t>
            </a:r>
          </a:p>
          <a:p>
            <a:r>
              <a:rPr lang="en-US" dirty="0"/>
              <a:t>It has a list of priorities for selecting courses of action based on </a:t>
            </a:r>
            <a:r>
              <a:rPr lang="en-US" dirty="0">
                <a:solidFill>
                  <a:srgbClr val="FF0000"/>
                </a:solidFill>
              </a:rPr>
              <a:t>survival</a:t>
            </a:r>
            <a:r>
              <a:rPr lang="en-US" dirty="0"/>
              <a:t> and the </a:t>
            </a:r>
            <a:r>
              <a:rPr lang="en-US" dirty="0">
                <a:solidFill>
                  <a:srgbClr val="FF0000"/>
                </a:solidFill>
              </a:rPr>
              <a:t>accomplishment of the mission objectives</a:t>
            </a:r>
            <a:r>
              <a:rPr lang="en-US" dirty="0"/>
              <a:t>.</a:t>
            </a:r>
          </a:p>
          <a:p>
            <a:r>
              <a:rPr lang="en-US" dirty="0"/>
              <a:t>Subsystems: Value subsystem, Decision Processing subsystem, and the Arbitration subsystem.</a:t>
            </a:r>
          </a:p>
        </p:txBody>
      </p:sp>
      <p:sp>
        <p:nvSpPr>
          <p:cNvPr id="4" name="Slide Number Placeholder 3"/>
          <p:cNvSpPr>
            <a:spLocks noGrp="1"/>
          </p:cNvSpPr>
          <p:nvPr>
            <p:ph type="sldNum" sz="quarter" idx="12"/>
          </p:nvPr>
        </p:nvSpPr>
        <p:spPr/>
        <p:txBody>
          <a:bodyPr/>
          <a:lstStyle/>
          <a:p>
            <a:fld id="{0267D5B8-E44A-4D0F-96C7-902652BCFAA0}" type="slidenum">
              <a:rPr lang="en-US" smtClean="0"/>
              <a:t>60</a:t>
            </a:fld>
            <a:endParaRPr lang="en-US"/>
          </a:p>
        </p:txBody>
      </p:sp>
    </p:spTree>
    <p:extLst>
      <p:ext uri="{BB962C8B-B14F-4D97-AF65-F5344CB8AC3E}">
        <p14:creationId xmlns:p14="http://schemas.microsoft.com/office/powerpoint/2010/main" val="20545602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the Decision Process</a:t>
            </a:r>
          </a:p>
        </p:txBody>
      </p:sp>
      <p:sp>
        <p:nvSpPr>
          <p:cNvPr id="3" name="Content Placeholder 2"/>
          <p:cNvSpPr>
            <a:spLocks noGrp="1"/>
          </p:cNvSpPr>
          <p:nvPr>
            <p:ph idx="1"/>
          </p:nvPr>
        </p:nvSpPr>
        <p:spPr/>
        <p:txBody>
          <a:bodyPr/>
          <a:lstStyle/>
          <a:p>
            <a:r>
              <a:rPr lang="en-US" dirty="0"/>
              <a:t>A “correct” decision means that the decision has the correct construction of relationships among the systems of the mind on a perception presented for consideration.</a:t>
            </a:r>
          </a:p>
          <a:p>
            <a:r>
              <a:rPr lang="en-US" dirty="0"/>
              <a:t>A correct conclusion followed by a correct decision simply on the understanding of an object is the “mark of Genius.”</a:t>
            </a:r>
          </a:p>
          <a:p>
            <a:r>
              <a:rPr lang="en-US" dirty="0"/>
              <a:t>The subsystems of the Decision system are: </a:t>
            </a:r>
          </a:p>
          <a:p>
            <a:pPr lvl="1"/>
            <a:r>
              <a:rPr lang="en-US" dirty="0"/>
              <a:t>The Value subsystem. </a:t>
            </a:r>
          </a:p>
          <a:p>
            <a:pPr lvl="1"/>
            <a:r>
              <a:rPr lang="en-US" dirty="0"/>
              <a:t>The Decision Processing subsystem. </a:t>
            </a:r>
          </a:p>
          <a:p>
            <a:pPr lvl="1"/>
            <a:r>
              <a:rPr lang="en-US" dirty="0"/>
              <a:t>The Arbitration subsystem.</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61</a:t>
            </a:fld>
            <a:endParaRPr lang="en-US"/>
          </a:p>
        </p:txBody>
      </p:sp>
    </p:spTree>
    <p:extLst>
      <p:ext uri="{BB962C8B-B14F-4D97-AF65-F5344CB8AC3E}">
        <p14:creationId xmlns:p14="http://schemas.microsoft.com/office/powerpoint/2010/main" val="19096237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Process: Value Subsystem</a:t>
            </a:r>
          </a:p>
        </p:txBody>
      </p:sp>
      <p:sp>
        <p:nvSpPr>
          <p:cNvPr id="3" name="Content Placeholder 2"/>
          <p:cNvSpPr>
            <a:spLocks noGrp="1"/>
          </p:cNvSpPr>
          <p:nvPr>
            <p:ph idx="1"/>
          </p:nvPr>
        </p:nvSpPr>
        <p:spPr/>
        <p:txBody>
          <a:bodyPr/>
          <a:lstStyle/>
          <a:p>
            <a:pPr marL="0" indent="0">
              <a:buNone/>
            </a:pPr>
            <a:r>
              <a:rPr lang="en-US" dirty="0"/>
              <a:t>Value Categories</a:t>
            </a:r>
          </a:p>
          <a:p>
            <a:r>
              <a:rPr lang="en-US" dirty="0"/>
              <a:t>Preferences.</a:t>
            </a:r>
          </a:p>
          <a:p>
            <a:r>
              <a:rPr lang="en-US" dirty="0"/>
              <a:t>Usefulness.</a:t>
            </a:r>
          </a:p>
          <a:p>
            <a:r>
              <a:rPr lang="en-US" dirty="0"/>
              <a:t>Values: a set of principles, standards, and qualities deemed worthwhile and desirable for general applications.</a:t>
            </a:r>
          </a:p>
          <a:p>
            <a:r>
              <a:rPr lang="en-US" dirty="0"/>
              <a:t>Happiness.</a:t>
            </a:r>
          </a:p>
          <a:p>
            <a:r>
              <a:rPr lang="en-US" dirty="0"/>
              <a:t>Freedom.</a:t>
            </a:r>
          </a:p>
          <a:p>
            <a:r>
              <a:rPr lang="en-US" dirty="0"/>
              <a:t>Aesthetics.</a:t>
            </a:r>
          </a:p>
        </p:txBody>
      </p:sp>
      <p:sp>
        <p:nvSpPr>
          <p:cNvPr id="4" name="Slide Number Placeholder 3"/>
          <p:cNvSpPr>
            <a:spLocks noGrp="1"/>
          </p:cNvSpPr>
          <p:nvPr>
            <p:ph type="sldNum" sz="quarter" idx="12"/>
          </p:nvPr>
        </p:nvSpPr>
        <p:spPr/>
        <p:txBody>
          <a:bodyPr/>
          <a:lstStyle/>
          <a:p>
            <a:fld id="{0267D5B8-E44A-4D0F-96C7-902652BCFAA0}" type="slidenum">
              <a:rPr lang="en-US" smtClean="0"/>
              <a:t>62</a:t>
            </a:fld>
            <a:endParaRPr lang="en-US"/>
          </a:p>
        </p:txBody>
      </p:sp>
    </p:spTree>
    <p:extLst>
      <p:ext uri="{BB962C8B-B14F-4D97-AF65-F5344CB8AC3E}">
        <p14:creationId xmlns:p14="http://schemas.microsoft.com/office/powerpoint/2010/main" val="5661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Decision Process</a:t>
            </a:r>
          </a:p>
        </p:txBody>
      </p:sp>
      <p:sp>
        <p:nvSpPr>
          <p:cNvPr id="3" name="Content Placeholder 2"/>
          <p:cNvSpPr>
            <a:spLocks noGrp="1"/>
          </p:cNvSpPr>
          <p:nvPr>
            <p:ph idx="1"/>
          </p:nvPr>
        </p:nvSpPr>
        <p:spPr/>
        <p:txBody>
          <a:bodyPr/>
          <a:lstStyle/>
          <a:p>
            <a:r>
              <a:rPr lang="en-US" dirty="0"/>
              <a:t>In the rational human being, the decision process </a:t>
            </a:r>
            <a:r>
              <a:rPr lang="en-US" dirty="0">
                <a:solidFill>
                  <a:srgbClr val="FF0000"/>
                </a:solidFill>
              </a:rPr>
              <a:t>begins with the formation of a concept</a:t>
            </a:r>
            <a:r>
              <a:rPr lang="en-US" dirty="0"/>
              <a:t>. The object of the concept enters the “wells of experience.” There are many such repositories, databases, or wells.</a:t>
            </a:r>
          </a:p>
          <a:p>
            <a:r>
              <a:rPr lang="en-US" dirty="0"/>
              <a:t>For the purpose of this functional design, we shall call these the wells of knowledge , the substance of which resides in the Intellect system.</a:t>
            </a:r>
          </a:p>
          <a:p>
            <a:r>
              <a:rPr lang="en-US" dirty="0"/>
              <a:t>This is where an object viewed as either a fragment or in its entirety is materially enhanced from the individual's wells of knowledge to assure that the decision made is based on substance, not desire.</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63</a:t>
            </a:fld>
            <a:endParaRPr lang="en-US"/>
          </a:p>
        </p:txBody>
      </p:sp>
    </p:spTree>
    <p:extLst>
      <p:ext uri="{BB962C8B-B14F-4D97-AF65-F5344CB8AC3E}">
        <p14:creationId xmlns:p14="http://schemas.microsoft.com/office/powerpoint/2010/main" val="14351411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Process: Decision Processing Subsystem</a:t>
            </a:r>
          </a:p>
        </p:txBody>
      </p:sp>
      <p:sp>
        <p:nvSpPr>
          <p:cNvPr id="3" name="Content Placeholder 2"/>
          <p:cNvSpPr>
            <a:spLocks noGrp="1"/>
          </p:cNvSpPr>
          <p:nvPr>
            <p:ph idx="1"/>
          </p:nvPr>
        </p:nvSpPr>
        <p:spPr/>
        <p:txBody>
          <a:bodyPr/>
          <a:lstStyle/>
          <a:p>
            <a:pPr marL="0" indent="0">
              <a:buNone/>
            </a:pPr>
            <a:r>
              <a:rPr lang="en-US" dirty="0">
                <a:solidFill>
                  <a:srgbClr val="FF0000"/>
                </a:solidFill>
              </a:rPr>
              <a:t>The decision process bases its operation on the recognition requiring an action</a:t>
            </a:r>
            <a:r>
              <a:rPr lang="en-US" dirty="0"/>
              <a:t>. This action is not sequential, nor is it hierarchical: it is a constant and dynamic process that covers the development of databases necessary for making a decision.</a:t>
            </a:r>
          </a:p>
          <a:p>
            <a:pPr marL="0" indent="0">
              <a:buNone/>
            </a:pPr>
            <a:endParaRPr lang="en-US" dirty="0"/>
          </a:p>
          <a:p>
            <a:pPr marL="0" indent="0">
              <a:buNone/>
            </a:pPr>
            <a:r>
              <a:rPr lang="en-US" dirty="0"/>
              <a:t>The Decision system should be taken as a single, large, complex process resulting in either an </a:t>
            </a:r>
            <a:r>
              <a:rPr lang="en-US" i="1" dirty="0"/>
              <a:t>a priori </a:t>
            </a:r>
            <a:r>
              <a:rPr lang="en-US" dirty="0"/>
              <a:t>or </a:t>
            </a:r>
            <a:r>
              <a:rPr lang="en-US" i="1" dirty="0"/>
              <a:t>a posteriori </a:t>
            </a:r>
            <a:r>
              <a:rPr lang="en-US" dirty="0"/>
              <a:t>decision.</a:t>
            </a:r>
          </a:p>
        </p:txBody>
      </p:sp>
      <p:sp>
        <p:nvSpPr>
          <p:cNvPr id="4" name="Slide Number Placeholder 3"/>
          <p:cNvSpPr>
            <a:spLocks noGrp="1"/>
          </p:cNvSpPr>
          <p:nvPr>
            <p:ph type="sldNum" sz="quarter" idx="12"/>
          </p:nvPr>
        </p:nvSpPr>
        <p:spPr/>
        <p:txBody>
          <a:bodyPr/>
          <a:lstStyle/>
          <a:p>
            <a:fld id="{0267D5B8-E44A-4D0F-96C7-902652BCFAA0}" type="slidenum">
              <a:rPr lang="en-US" smtClean="0"/>
              <a:t>64</a:t>
            </a:fld>
            <a:endParaRPr lang="en-US"/>
          </a:p>
        </p:txBody>
      </p:sp>
    </p:spTree>
    <p:extLst>
      <p:ext uri="{BB962C8B-B14F-4D97-AF65-F5344CB8AC3E}">
        <p14:creationId xmlns:p14="http://schemas.microsoft.com/office/powerpoint/2010/main" val="10633402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Process: Arbitration Subsystem</a:t>
            </a:r>
          </a:p>
        </p:txBody>
      </p:sp>
      <p:sp>
        <p:nvSpPr>
          <p:cNvPr id="3" name="Content Placeholder 2"/>
          <p:cNvSpPr>
            <a:spLocks noGrp="1"/>
          </p:cNvSpPr>
          <p:nvPr>
            <p:ph idx="1"/>
          </p:nvPr>
        </p:nvSpPr>
        <p:spPr/>
        <p:txBody>
          <a:bodyPr/>
          <a:lstStyle/>
          <a:p>
            <a:pPr marL="0" indent="0">
              <a:buNone/>
            </a:pPr>
            <a:r>
              <a:rPr lang="en-US" dirty="0"/>
              <a:t>The Arbitration subsystem is the primary interface and umpire for the Understanding, Reason, and Intellect systems in its role of generating axioms, rules, and laws.</a:t>
            </a:r>
          </a:p>
          <a:p>
            <a:pPr marL="0" indent="0">
              <a:buNone/>
            </a:pPr>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65</a:t>
            </a:fld>
            <a:endParaRPr lang="en-US"/>
          </a:p>
        </p:txBody>
      </p:sp>
    </p:spTree>
    <p:extLst>
      <p:ext uri="{BB962C8B-B14F-4D97-AF65-F5344CB8AC3E}">
        <p14:creationId xmlns:p14="http://schemas.microsoft.com/office/powerpoint/2010/main" val="20059765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Thought System</a:t>
            </a:r>
          </a:p>
        </p:txBody>
      </p:sp>
      <p:sp>
        <p:nvSpPr>
          <p:cNvPr id="3" name="Content Placeholder 2"/>
          <p:cNvSpPr>
            <a:spLocks noGrp="1"/>
          </p:cNvSpPr>
          <p:nvPr>
            <p:ph idx="1"/>
          </p:nvPr>
        </p:nvSpPr>
        <p:spPr/>
        <p:txBody>
          <a:bodyPr>
            <a:normAutofit/>
          </a:bodyPr>
          <a:lstStyle/>
          <a:p>
            <a:r>
              <a:rPr lang="en-US" sz="2400" dirty="0"/>
              <a:t>The role of the Thought system is to enable the autonomous system to be self-aware and self-conscious.</a:t>
            </a:r>
          </a:p>
          <a:p>
            <a:r>
              <a:rPr lang="en-US" sz="2400" dirty="0"/>
              <a:t>This is the system that enables contemplation, analysis, internal dialogue, monologue, conferencing, broadcasting, and multifaceted discussions of issues of importance to any and all of the systems of the autonomous system.</a:t>
            </a:r>
          </a:p>
          <a:p>
            <a:r>
              <a:rPr lang="en-US" sz="2400" dirty="0"/>
              <a:t>The Internet—and if/when it will attain “consciousness,” “self-awareness,” “sentience,” or some other form of transcendent behavior as more and more systems, nodes, and “smart” devices are added to it.</a:t>
            </a:r>
          </a:p>
          <a:p>
            <a:r>
              <a:rPr lang="en-US" sz="2400" dirty="0"/>
              <a:t>the Internet has the wrong architecture for autonomy. It is only with the infusion of the mental (conscious) involvement of human beings that the Internet can take on an outward impression of con­sciousness.</a:t>
            </a:r>
          </a:p>
        </p:txBody>
      </p:sp>
      <p:sp>
        <p:nvSpPr>
          <p:cNvPr id="4" name="Slide Number Placeholder 3"/>
          <p:cNvSpPr>
            <a:spLocks noGrp="1"/>
          </p:cNvSpPr>
          <p:nvPr>
            <p:ph type="sldNum" sz="quarter" idx="12"/>
          </p:nvPr>
        </p:nvSpPr>
        <p:spPr/>
        <p:txBody>
          <a:bodyPr/>
          <a:lstStyle/>
          <a:p>
            <a:fld id="{0267D5B8-E44A-4D0F-96C7-902652BCFAA0}" type="slidenum">
              <a:rPr lang="en-US" smtClean="0"/>
              <a:t>66</a:t>
            </a:fld>
            <a:endParaRPr lang="en-US"/>
          </a:p>
        </p:txBody>
      </p:sp>
    </p:spTree>
    <p:extLst>
      <p:ext uri="{BB962C8B-B14F-4D97-AF65-F5344CB8AC3E}">
        <p14:creationId xmlns:p14="http://schemas.microsoft.com/office/powerpoint/2010/main" val="41325229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Process</a:t>
            </a:r>
          </a:p>
        </p:txBody>
      </p:sp>
      <p:sp>
        <p:nvSpPr>
          <p:cNvPr id="3" name="Content Placeholder 2"/>
          <p:cNvSpPr>
            <a:spLocks noGrp="1"/>
          </p:cNvSpPr>
          <p:nvPr>
            <p:ph idx="1"/>
          </p:nvPr>
        </p:nvSpPr>
        <p:spPr/>
        <p:txBody>
          <a:bodyPr>
            <a:normAutofit fontScale="92500" lnSpcReduction="10000"/>
          </a:bodyPr>
          <a:lstStyle/>
          <a:p>
            <a:r>
              <a:rPr lang="en-US" dirty="0"/>
              <a:t>The basic laws of thinking are recognition, connection, conclusion, and verdict.</a:t>
            </a:r>
          </a:p>
          <a:p>
            <a:r>
              <a:rPr lang="en-US" dirty="0"/>
              <a:t>The Thought system has three subsystems: The Nexus </a:t>
            </a:r>
            <a:r>
              <a:rPr lang="en-US" dirty="0" err="1"/>
              <a:t>Cogitationis</a:t>
            </a:r>
            <a:r>
              <a:rPr lang="en-US" dirty="0"/>
              <a:t> subsystem, The Communication subsystem, The Network subsystem.</a:t>
            </a:r>
          </a:p>
          <a:p>
            <a:r>
              <a:rPr lang="en-US" dirty="0"/>
              <a:t>These three subsystems belong to the sphere of the </a:t>
            </a:r>
            <a:r>
              <a:rPr lang="en-US" dirty="0" err="1"/>
              <a:t>Noumenon</a:t>
            </a:r>
            <a:r>
              <a:rPr lang="en-US" dirty="0"/>
              <a:t>.</a:t>
            </a:r>
          </a:p>
          <a:p>
            <a:r>
              <a:rPr lang="en-US" dirty="0"/>
              <a:t>The primary external interface of the Thought system with the Phenomenon is through the Communication subsystem, and then through the Sensory subsystem, which provides physical impressions from the environment.</a:t>
            </a:r>
          </a:p>
          <a:p>
            <a:r>
              <a:rPr lang="en-US" dirty="0"/>
              <a:t>In the autonomous system, the Logic program set is designed from the start so that the autonomous system will be a logical thinker.</a:t>
            </a:r>
          </a:p>
        </p:txBody>
      </p:sp>
      <p:sp>
        <p:nvSpPr>
          <p:cNvPr id="4" name="Slide Number Placeholder 3"/>
          <p:cNvSpPr>
            <a:spLocks noGrp="1"/>
          </p:cNvSpPr>
          <p:nvPr>
            <p:ph type="sldNum" sz="quarter" idx="12"/>
          </p:nvPr>
        </p:nvSpPr>
        <p:spPr/>
        <p:txBody>
          <a:bodyPr/>
          <a:lstStyle/>
          <a:p>
            <a:fld id="{0267D5B8-E44A-4D0F-96C7-902652BCFAA0}" type="slidenum">
              <a:rPr lang="en-US" smtClean="0"/>
              <a:t>67</a:t>
            </a:fld>
            <a:endParaRPr lang="en-US"/>
          </a:p>
        </p:txBody>
      </p:sp>
    </p:spTree>
    <p:extLst>
      <p:ext uri="{BB962C8B-B14F-4D97-AF65-F5344CB8AC3E}">
        <p14:creationId xmlns:p14="http://schemas.microsoft.com/office/powerpoint/2010/main" val="14786712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Process: Nexus </a:t>
            </a:r>
            <a:r>
              <a:rPr lang="en-US" dirty="0" err="1"/>
              <a:t>Cogitationis</a:t>
            </a:r>
            <a:r>
              <a:rPr lang="en-US" dirty="0"/>
              <a:t> Subsystem</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"Nexus </a:t>
            </a:r>
            <a:r>
              <a:rPr lang="en-US" dirty="0" err="1"/>
              <a:t>cogitationis</a:t>
            </a:r>
            <a:r>
              <a:rPr lang="en-US" dirty="0"/>
              <a:t>" is a Latin phrase that translates to "connection of thought," essentially meaning the point where different ideas or thoughts come together to form a coherent concept or understanding; it refers to the central link or relationship between various mental processes involved in thinking or reasoning. </a:t>
            </a:r>
          </a:p>
          <a:p>
            <a:endParaRPr lang="en-US" dirty="0"/>
          </a:p>
          <a:p>
            <a:r>
              <a:rPr lang="en-US" dirty="0"/>
              <a:t>The entire logical structure of the language as used to think internally and communicate externally should reside in the Nexus.</a:t>
            </a:r>
          </a:p>
          <a:p>
            <a:r>
              <a:rPr lang="en-US" dirty="0"/>
              <a:t>When the autonomous system communicates and manifests action, it should be in the form of an advanced, human language.</a:t>
            </a:r>
          </a:p>
          <a:p>
            <a:r>
              <a:rPr lang="en-US" dirty="0"/>
              <a:t>The Contemplation program set is the equivalent mental activity of the entire mind of the constellation without external sensory input.</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68</a:t>
            </a:fld>
            <a:endParaRPr lang="en-US"/>
          </a:p>
        </p:txBody>
      </p:sp>
    </p:spTree>
    <p:extLst>
      <p:ext uri="{BB962C8B-B14F-4D97-AF65-F5344CB8AC3E}">
        <p14:creationId xmlns:p14="http://schemas.microsoft.com/office/powerpoint/2010/main" val="28566182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Process: The Communication Subsystem</a:t>
            </a:r>
          </a:p>
        </p:txBody>
      </p:sp>
      <p:sp>
        <p:nvSpPr>
          <p:cNvPr id="3" name="Content Placeholder 2"/>
          <p:cNvSpPr>
            <a:spLocks noGrp="1"/>
          </p:cNvSpPr>
          <p:nvPr>
            <p:ph idx="1"/>
          </p:nvPr>
        </p:nvSpPr>
        <p:spPr/>
        <p:txBody>
          <a:bodyPr/>
          <a:lstStyle/>
          <a:p>
            <a:r>
              <a:rPr lang="en-US" dirty="0"/>
              <a:t>We must select and provide to the autonomous system a very advanced and highly developed language in which to think internally and communicate externally.</a:t>
            </a:r>
          </a:p>
        </p:txBody>
      </p:sp>
      <p:sp>
        <p:nvSpPr>
          <p:cNvPr id="4" name="Slide Number Placeholder 3"/>
          <p:cNvSpPr>
            <a:spLocks noGrp="1"/>
          </p:cNvSpPr>
          <p:nvPr>
            <p:ph type="sldNum" sz="quarter" idx="12"/>
          </p:nvPr>
        </p:nvSpPr>
        <p:spPr/>
        <p:txBody>
          <a:bodyPr/>
          <a:lstStyle/>
          <a:p>
            <a:fld id="{0267D5B8-E44A-4D0F-96C7-902652BCFAA0}" type="slidenum">
              <a:rPr lang="en-US" smtClean="0"/>
              <a:t>69</a:t>
            </a:fld>
            <a:endParaRPr lang="en-US"/>
          </a:p>
        </p:txBody>
      </p:sp>
    </p:spTree>
    <p:extLst>
      <p:ext uri="{BB962C8B-B14F-4D97-AF65-F5344CB8AC3E}">
        <p14:creationId xmlns:p14="http://schemas.microsoft.com/office/powerpoint/2010/main" val="30734811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Process: The Network Subsystem</a:t>
            </a:r>
          </a:p>
        </p:txBody>
      </p:sp>
      <p:sp>
        <p:nvSpPr>
          <p:cNvPr id="3" name="Content Placeholder 2"/>
          <p:cNvSpPr>
            <a:spLocks noGrp="1"/>
          </p:cNvSpPr>
          <p:nvPr>
            <p:ph idx="1"/>
          </p:nvPr>
        </p:nvSpPr>
        <p:spPr/>
        <p:txBody>
          <a:bodyPr>
            <a:normAutofit fontScale="85000" lnSpcReduction="20000"/>
          </a:bodyPr>
          <a:lstStyle/>
          <a:p>
            <a:r>
              <a:rPr lang="en-US" dirty="0"/>
              <a:t>The Network subsystem for design purposes is the information network of the systems of the constellation.</a:t>
            </a:r>
          </a:p>
          <a:p>
            <a:r>
              <a:rPr lang="en-US" dirty="0"/>
              <a:t>The information in this case is </a:t>
            </a:r>
            <a:r>
              <a:rPr lang="en-US" dirty="0">
                <a:solidFill>
                  <a:srgbClr val="FF0000"/>
                </a:solidFill>
              </a:rPr>
              <a:t>exchanged in human language</a:t>
            </a:r>
            <a:r>
              <a:rPr lang="en-US" dirty="0"/>
              <a:t>, </a:t>
            </a:r>
            <a:r>
              <a:rPr lang="en-US" dirty="0">
                <a:solidFill>
                  <a:srgbClr val="FF0000"/>
                </a:solidFill>
              </a:rPr>
              <a:t>because we humans think in language.</a:t>
            </a:r>
          </a:p>
          <a:p>
            <a:r>
              <a:rPr lang="en-US" dirty="0"/>
              <a:t>Communication modes include: </a:t>
            </a:r>
          </a:p>
          <a:p>
            <a:pPr lvl="1"/>
            <a:r>
              <a:rPr lang="en-US" dirty="0"/>
              <a:t>Monologue: designed for the Nexus </a:t>
            </a:r>
            <a:r>
              <a:rPr lang="en-US" dirty="0" err="1"/>
              <a:t>Cogitationis</a:t>
            </a:r>
            <a:r>
              <a:rPr lang="en-US" dirty="0"/>
              <a:t> to address each system separately to update its organization and functions. It also serves as a mode for any system to address another directly with information required by the target system.</a:t>
            </a:r>
          </a:p>
          <a:p>
            <a:pPr lvl="1"/>
            <a:r>
              <a:rPr lang="en-US" dirty="0"/>
              <a:t>Broadcast: to inform all the systems in the constellation to take note of an event in process that is important for the entire constellation.</a:t>
            </a:r>
          </a:p>
          <a:p>
            <a:pPr lvl="1"/>
            <a:r>
              <a:rPr lang="en-US" dirty="0"/>
              <a:t>Dialogue: used in situations in which the Decision system is in the process of establishing a preference or making a ruling or a verdict on an object, event, or process.</a:t>
            </a:r>
          </a:p>
          <a:p>
            <a:pPr lvl="1"/>
            <a:r>
              <a:rPr lang="en-US" dirty="0"/>
              <a:t>Conference: is a direct engagement undertaken prior to a decision, judgment, verdict, or preference concerning an object, event, or phenomenon. The Conference is often due not to Sensory input but to a mental process while the thinking takes place.</a:t>
            </a:r>
          </a:p>
        </p:txBody>
      </p:sp>
      <p:sp>
        <p:nvSpPr>
          <p:cNvPr id="4" name="Slide Number Placeholder 3"/>
          <p:cNvSpPr>
            <a:spLocks noGrp="1"/>
          </p:cNvSpPr>
          <p:nvPr>
            <p:ph type="sldNum" sz="quarter" idx="12"/>
          </p:nvPr>
        </p:nvSpPr>
        <p:spPr/>
        <p:txBody>
          <a:bodyPr/>
          <a:lstStyle/>
          <a:p>
            <a:fld id="{0267D5B8-E44A-4D0F-96C7-902652BCFAA0}" type="slidenum">
              <a:rPr lang="en-US" smtClean="0"/>
              <a:t>70</a:t>
            </a:fld>
            <a:endParaRPr lang="en-US"/>
          </a:p>
        </p:txBody>
      </p:sp>
    </p:spTree>
    <p:extLst>
      <p:ext uri="{BB962C8B-B14F-4D97-AF65-F5344CB8AC3E}">
        <p14:creationId xmlns:p14="http://schemas.microsoft.com/office/powerpoint/2010/main" val="19287290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The initialization process or genesis of the autonomous system is critical because it forms the baseline of self-awareness.</a:t>
            </a:r>
          </a:p>
          <a:p>
            <a:r>
              <a:rPr lang="en-US" dirty="0"/>
              <a:t>When the cognitive functions have been programmed, tested, and integrated, one can see that the Nexus </a:t>
            </a:r>
            <a:r>
              <a:rPr lang="en-US" dirty="0" err="1"/>
              <a:t>Cogitationis</a:t>
            </a:r>
            <a:r>
              <a:rPr lang="en-US" dirty="0"/>
              <a:t> is akin to what we used to call “situation monitoring.”</a:t>
            </a:r>
          </a:p>
          <a:p>
            <a:r>
              <a:rPr lang="en-US" dirty="0"/>
              <a:t>The autonomous system is instantiated by 9 steps called “moments.”</a:t>
            </a: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71</a:t>
            </a:fld>
            <a:endParaRPr lang="en-US"/>
          </a:p>
        </p:txBody>
      </p:sp>
    </p:spTree>
    <p:extLst>
      <p:ext uri="{BB962C8B-B14F-4D97-AF65-F5344CB8AC3E}">
        <p14:creationId xmlns:p14="http://schemas.microsoft.com/office/powerpoint/2010/main" val="3174065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Before the First Moment.</a:t>
            </a:r>
          </a:p>
          <a:p>
            <a:pPr lvl="1"/>
            <a:r>
              <a:rPr lang="en-US" dirty="0"/>
              <a:t>State : Pure Nothing </a:t>
            </a:r>
          </a:p>
          <a:p>
            <a:pPr lvl="1"/>
            <a:r>
              <a:rPr lang="en-US" dirty="0"/>
              <a:t>Result : Intention of Becoming </a:t>
            </a:r>
          </a:p>
          <a:p>
            <a:pPr lvl="1"/>
            <a:r>
              <a:rPr lang="en-US" dirty="0"/>
              <a:t>Description : Pure Nothing is the starting and the end point of all things in the cognitive world. There is no object without a subject, and no existence without the environment, the Phenomenon.</a:t>
            </a:r>
          </a:p>
          <a:p>
            <a:r>
              <a:rPr lang="en-US" dirty="0"/>
              <a:t>The Becoming </a:t>
            </a:r>
          </a:p>
          <a:p>
            <a:pPr lvl="1"/>
            <a:r>
              <a:rPr lang="en-US" dirty="0"/>
              <a:t>State : Initialization </a:t>
            </a:r>
          </a:p>
          <a:p>
            <a:pPr lvl="1"/>
            <a:r>
              <a:rPr lang="en-US" dirty="0"/>
              <a:t>Result : Intention of initialization is instantiated </a:t>
            </a:r>
          </a:p>
          <a:p>
            <a:pPr lvl="1"/>
            <a:r>
              <a:rPr lang="en-US" dirty="0"/>
              <a:t>Description : This is the Becoming , the “zeroth moment,” the “desire to initialize self” process of the autonomous system constellation.</a:t>
            </a: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72</a:t>
            </a:fld>
            <a:endParaRPr lang="en-US"/>
          </a:p>
        </p:txBody>
      </p:sp>
    </p:spTree>
    <p:extLst>
      <p:ext uri="{BB962C8B-B14F-4D97-AF65-F5344CB8AC3E}">
        <p14:creationId xmlns:p14="http://schemas.microsoft.com/office/powerpoint/2010/main" val="40941756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First Moment.</a:t>
            </a:r>
          </a:p>
          <a:p>
            <a:pPr marL="457200" lvl="1" indent="0">
              <a:buNone/>
            </a:pPr>
            <a:r>
              <a:rPr lang="en-US" dirty="0"/>
              <a:t>State : Determinate Nothing (concept of “I” emerges) </a:t>
            </a:r>
          </a:p>
          <a:p>
            <a:pPr marL="457200" lvl="1" indent="0">
              <a:buNone/>
            </a:pPr>
            <a:r>
              <a:rPr lang="en-US" dirty="0"/>
              <a:t>Result : The Nexus </a:t>
            </a:r>
            <a:r>
              <a:rPr lang="en-US" dirty="0" err="1"/>
              <a:t>Cogitationis</a:t>
            </a:r>
            <a:r>
              <a:rPr lang="en-US" dirty="0"/>
              <a:t> is instantiated </a:t>
            </a:r>
          </a:p>
          <a:p>
            <a:pPr marL="457200" lvl="1" indent="0">
              <a:buNone/>
            </a:pPr>
            <a:r>
              <a:rPr lang="en-US" dirty="0"/>
              <a:t>Description : The Nexus </a:t>
            </a:r>
            <a:r>
              <a:rPr lang="en-US" dirty="0" err="1"/>
              <a:t>Cogitationis</a:t>
            </a:r>
            <a:r>
              <a:rPr lang="en-US" dirty="0"/>
              <a:t> (unto itself, the subject ) brings itself into being and is in a suspended state. Until the Communication system is instantiated in the Eighth Moment, the Nexus will communicate with the nascent systems as each comes online through the bands of the </a:t>
            </a:r>
            <a:r>
              <a:rPr lang="en-US" dirty="0" err="1"/>
              <a:t>Noumena</a:t>
            </a:r>
            <a:r>
              <a:rPr lang="en-US" dirty="0"/>
              <a:t>.</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73</a:t>
            </a:fld>
            <a:endParaRPr lang="en-US"/>
          </a:p>
        </p:txBody>
      </p:sp>
    </p:spTree>
    <p:extLst>
      <p:ext uri="{BB962C8B-B14F-4D97-AF65-F5344CB8AC3E}">
        <p14:creationId xmlns:p14="http://schemas.microsoft.com/office/powerpoint/2010/main" val="14511150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Second Moment.</a:t>
            </a:r>
          </a:p>
          <a:p>
            <a:pPr lvl="1"/>
            <a:r>
              <a:rPr lang="en-US" dirty="0"/>
              <a:t>State : Something (concept of self emerges) </a:t>
            </a:r>
          </a:p>
          <a:p>
            <a:pPr lvl="1"/>
            <a:r>
              <a:rPr lang="en-US" dirty="0"/>
              <a:t>Result : The Will system is instantiated </a:t>
            </a:r>
          </a:p>
          <a:p>
            <a:pPr lvl="1"/>
            <a:r>
              <a:rPr lang="en-US" dirty="0"/>
              <a:t>Description : The Will system, which is a totally physical, survival-oriented system, exerts itself and notifies the Nexus </a:t>
            </a:r>
            <a:r>
              <a:rPr lang="en-US" dirty="0" err="1"/>
              <a:t>Cogitationis</a:t>
            </a:r>
            <a:r>
              <a:rPr lang="en-US" dirty="0"/>
              <a:t> in a monologue mode that it is present. The Nexus </a:t>
            </a:r>
            <a:r>
              <a:rPr lang="en-US" dirty="0" err="1"/>
              <a:t>Cogitationis</a:t>
            </a:r>
            <a:r>
              <a:rPr lang="en-US" dirty="0"/>
              <a:t> replies, also in a monologue mode’ that it has recognized the Will system, and the Will system is registered with the Individual Survival subsystem, the Survival of the Species subsystem, and the Dominance subsystem.</a:t>
            </a:r>
          </a:p>
        </p:txBody>
      </p:sp>
      <p:sp>
        <p:nvSpPr>
          <p:cNvPr id="4" name="Slide Number Placeholder 3"/>
          <p:cNvSpPr>
            <a:spLocks noGrp="1"/>
          </p:cNvSpPr>
          <p:nvPr>
            <p:ph type="sldNum" sz="quarter" idx="12"/>
          </p:nvPr>
        </p:nvSpPr>
        <p:spPr/>
        <p:txBody>
          <a:bodyPr/>
          <a:lstStyle/>
          <a:p>
            <a:fld id="{0267D5B8-E44A-4D0F-96C7-902652BCFAA0}" type="slidenum">
              <a:rPr lang="en-US" smtClean="0"/>
              <a:t>74</a:t>
            </a:fld>
            <a:endParaRPr lang="en-US"/>
          </a:p>
        </p:txBody>
      </p:sp>
    </p:spTree>
    <p:extLst>
      <p:ext uri="{BB962C8B-B14F-4D97-AF65-F5344CB8AC3E}">
        <p14:creationId xmlns:p14="http://schemas.microsoft.com/office/powerpoint/2010/main" val="3844219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Third Moment.</a:t>
            </a:r>
          </a:p>
          <a:p>
            <a:pPr lvl="1"/>
            <a:r>
              <a:rPr lang="en-US" dirty="0"/>
              <a:t>State : Something Else (concept of </a:t>
            </a:r>
            <a:r>
              <a:rPr lang="en-US" dirty="0" err="1"/>
              <a:t>nonself</a:t>
            </a:r>
            <a:r>
              <a:rPr lang="en-US" dirty="0"/>
              <a:t> emerges) </a:t>
            </a:r>
          </a:p>
          <a:p>
            <a:pPr lvl="1"/>
            <a:r>
              <a:rPr lang="en-US" dirty="0"/>
              <a:t>Result : The Sensory system is instantiated </a:t>
            </a:r>
          </a:p>
          <a:p>
            <a:pPr lvl="1"/>
            <a:r>
              <a:rPr lang="en-US" dirty="0"/>
              <a:t>Description : The Sensory system addresses the Nexus </a:t>
            </a:r>
            <a:r>
              <a:rPr lang="en-US" dirty="0" err="1"/>
              <a:t>Cogitationis</a:t>
            </a:r>
            <a:r>
              <a:rPr lang="en-US" dirty="0"/>
              <a:t> in a monologue mode, providing the first burst of sensory data from the nearest (or most immediate) object in the Phenomenon. The Nexus </a:t>
            </a:r>
            <a:r>
              <a:rPr lang="en-US" dirty="0" err="1"/>
              <a:t>Cogitationis</a:t>
            </a:r>
            <a:r>
              <a:rPr lang="en-US" dirty="0"/>
              <a:t> replies that it recognizes the Sensory system and that it is registered with the Internal Sensory program sets: the Sensory Data Processing program set, the External Sensory Data program set (the Phenomenon: external data input), the Sensory Data Records program set, and the Experiment Data Records program set.</a:t>
            </a:r>
          </a:p>
        </p:txBody>
      </p:sp>
      <p:sp>
        <p:nvSpPr>
          <p:cNvPr id="4" name="Slide Number Placeholder 3"/>
          <p:cNvSpPr>
            <a:spLocks noGrp="1"/>
          </p:cNvSpPr>
          <p:nvPr>
            <p:ph type="sldNum" sz="quarter" idx="12"/>
          </p:nvPr>
        </p:nvSpPr>
        <p:spPr/>
        <p:txBody>
          <a:bodyPr/>
          <a:lstStyle/>
          <a:p>
            <a:fld id="{0267D5B8-E44A-4D0F-96C7-902652BCFAA0}" type="slidenum">
              <a:rPr lang="en-US" smtClean="0"/>
              <a:t>75</a:t>
            </a:fld>
            <a:endParaRPr lang="en-US"/>
          </a:p>
        </p:txBody>
      </p:sp>
    </p:spTree>
    <p:extLst>
      <p:ext uri="{BB962C8B-B14F-4D97-AF65-F5344CB8AC3E}">
        <p14:creationId xmlns:p14="http://schemas.microsoft.com/office/powerpoint/2010/main" val="12868720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Fourth Moment.</a:t>
            </a:r>
          </a:p>
          <a:p>
            <a:pPr lvl="1"/>
            <a:r>
              <a:rPr lang="en-US" dirty="0"/>
              <a:t>State : Something More </a:t>
            </a:r>
          </a:p>
          <a:p>
            <a:pPr lvl="1"/>
            <a:r>
              <a:rPr lang="en-US" dirty="0"/>
              <a:t>Result : The Reason system is instantiated</a:t>
            </a:r>
          </a:p>
          <a:p>
            <a:pPr lvl="1"/>
            <a:r>
              <a:rPr lang="en-US" dirty="0"/>
              <a:t>Description : The Reason system addresses the Nexus </a:t>
            </a:r>
            <a:r>
              <a:rPr lang="en-US" dirty="0" err="1"/>
              <a:t>Cogitationis</a:t>
            </a:r>
            <a:r>
              <a:rPr lang="en-US" dirty="0"/>
              <a:t> in a dialogue mode. It describes its readiness for receiving its subsystems' definitions and data inputs. The Nexus </a:t>
            </a:r>
            <a:r>
              <a:rPr lang="en-US" dirty="0" err="1"/>
              <a:t>Cogitationis</a:t>
            </a:r>
            <a:r>
              <a:rPr lang="en-US" dirty="0"/>
              <a:t> replies that it recognizes the Reason system and that it is registered with the Laws subsystem, the Rules subsystem, and the Axioms subsystem. It is also linked instantly in a dialogue mode with the Will system for emergency input and response, as in the case of survival events.</a:t>
            </a:r>
          </a:p>
        </p:txBody>
      </p:sp>
      <p:sp>
        <p:nvSpPr>
          <p:cNvPr id="4" name="Slide Number Placeholder 3"/>
          <p:cNvSpPr>
            <a:spLocks noGrp="1"/>
          </p:cNvSpPr>
          <p:nvPr>
            <p:ph type="sldNum" sz="quarter" idx="12"/>
          </p:nvPr>
        </p:nvSpPr>
        <p:spPr/>
        <p:txBody>
          <a:bodyPr/>
          <a:lstStyle/>
          <a:p>
            <a:fld id="{0267D5B8-E44A-4D0F-96C7-902652BCFAA0}" type="slidenum">
              <a:rPr lang="en-US" smtClean="0"/>
              <a:t>76</a:t>
            </a:fld>
            <a:endParaRPr lang="en-US"/>
          </a:p>
        </p:txBody>
      </p:sp>
    </p:spTree>
    <p:extLst>
      <p:ext uri="{BB962C8B-B14F-4D97-AF65-F5344CB8AC3E}">
        <p14:creationId xmlns:p14="http://schemas.microsoft.com/office/powerpoint/2010/main" val="20596864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Fifth Moment.</a:t>
            </a:r>
          </a:p>
          <a:p>
            <a:pPr lvl="1"/>
            <a:r>
              <a:rPr lang="en-US" dirty="0"/>
              <a:t>State : Something More </a:t>
            </a:r>
          </a:p>
          <a:p>
            <a:pPr lvl="1"/>
            <a:r>
              <a:rPr lang="en-US" dirty="0"/>
              <a:t>Result : The Intellect system is instantiated </a:t>
            </a:r>
          </a:p>
          <a:p>
            <a:pPr lvl="1"/>
            <a:r>
              <a:rPr lang="en-US" dirty="0"/>
              <a:t>Description : The Nexus </a:t>
            </a:r>
            <a:r>
              <a:rPr lang="en-US" dirty="0" err="1"/>
              <a:t>Cogitationis</a:t>
            </a:r>
            <a:r>
              <a:rPr lang="en-US" dirty="0"/>
              <a:t> addresses the Intellect system in a dialogue mode. It queries the Intellect system as to its readiness to receive the download of data required by the Intellect to generate knowledge. It requests a read-back of the status of its Abstract subsystem, its Experience subsystem, and its Knowledge subsystem. This process initializes the relationship of the Intellect with the other systems of the constellation.</a:t>
            </a:r>
          </a:p>
        </p:txBody>
      </p:sp>
      <p:sp>
        <p:nvSpPr>
          <p:cNvPr id="4" name="Slide Number Placeholder 3"/>
          <p:cNvSpPr>
            <a:spLocks noGrp="1"/>
          </p:cNvSpPr>
          <p:nvPr>
            <p:ph type="sldNum" sz="quarter" idx="12"/>
          </p:nvPr>
        </p:nvSpPr>
        <p:spPr/>
        <p:txBody>
          <a:bodyPr/>
          <a:lstStyle/>
          <a:p>
            <a:fld id="{0267D5B8-E44A-4D0F-96C7-902652BCFAA0}" type="slidenum">
              <a:rPr lang="en-US" smtClean="0"/>
              <a:t>77</a:t>
            </a:fld>
            <a:endParaRPr lang="en-US"/>
          </a:p>
        </p:txBody>
      </p:sp>
    </p:spTree>
    <p:extLst>
      <p:ext uri="{BB962C8B-B14F-4D97-AF65-F5344CB8AC3E}">
        <p14:creationId xmlns:p14="http://schemas.microsoft.com/office/powerpoint/2010/main" val="34960358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Sixth Moment.</a:t>
            </a:r>
          </a:p>
          <a:p>
            <a:pPr lvl="1"/>
            <a:r>
              <a:rPr lang="en-US" dirty="0"/>
              <a:t>State : Something More </a:t>
            </a:r>
          </a:p>
          <a:p>
            <a:pPr lvl="1"/>
            <a:r>
              <a:rPr lang="en-US" dirty="0"/>
              <a:t>Result : The Understanding system is instantiated </a:t>
            </a:r>
          </a:p>
          <a:p>
            <a:pPr lvl="1"/>
            <a:r>
              <a:rPr lang="en-US" dirty="0"/>
              <a:t>Description : The Nexus </a:t>
            </a:r>
            <a:r>
              <a:rPr lang="en-US" dirty="0" err="1"/>
              <a:t>Cogitationis</a:t>
            </a:r>
            <a:r>
              <a:rPr lang="en-US" dirty="0"/>
              <a:t> addresses the Understanding system in a dialogue mode. It queries the Understanding system as to its readiness to receive the downloading of the data it needs to perform its function. This includes the data formats and information fragments large and small to populate its Form of All Appearances and Form of All Possibilities subsystems. In the process of forming an Idea or Concept, this system draws on the instantiated systems of the constellation in a broadcast mode for the data it needs to complete the data sets required in formulating its possibilities.</a:t>
            </a:r>
          </a:p>
        </p:txBody>
      </p:sp>
      <p:sp>
        <p:nvSpPr>
          <p:cNvPr id="4" name="Slide Number Placeholder 3"/>
          <p:cNvSpPr>
            <a:spLocks noGrp="1"/>
          </p:cNvSpPr>
          <p:nvPr>
            <p:ph type="sldNum" sz="quarter" idx="12"/>
          </p:nvPr>
        </p:nvSpPr>
        <p:spPr/>
        <p:txBody>
          <a:bodyPr/>
          <a:lstStyle/>
          <a:p>
            <a:fld id="{0267D5B8-E44A-4D0F-96C7-902652BCFAA0}" type="slidenum">
              <a:rPr lang="en-US" smtClean="0"/>
              <a:t>78</a:t>
            </a:fld>
            <a:endParaRPr lang="en-US"/>
          </a:p>
        </p:txBody>
      </p:sp>
    </p:spTree>
    <p:extLst>
      <p:ext uri="{BB962C8B-B14F-4D97-AF65-F5344CB8AC3E}">
        <p14:creationId xmlns:p14="http://schemas.microsoft.com/office/powerpoint/2010/main" val="25238779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a:t>Seventh Moment.</a:t>
            </a:r>
          </a:p>
          <a:p>
            <a:pPr lvl="1"/>
            <a:r>
              <a:rPr lang="en-US" dirty="0"/>
              <a:t>State : Awareness starts </a:t>
            </a:r>
          </a:p>
          <a:p>
            <a:pPr lvl="1"/>
            <a:r>
              <a:rPr lang="en-US" dirty="0"/>
              <a:t>Result : The Presentation system is instantiated </a:t>
            </a:r>
          </a:p>
          <a:p>
            <a:pPr lvl="1"/>
            <a:r>
              <a:rPr lang="en-US" dirty="0"/>
              <a:t>Description : The Nexus </a:t>
            </a:r>
            <a:r>
              <a:rPr lang="en-US" dirty="0" err="1"/>
              <a:t>Cogitationis</a:t>
            </a:r>
            <a:r>
              <a:rPr lang="en-US" dirty="0"/>
              <a:t> addresses the Presentation system in a broadcast mode. It queries the Presentation system as to its readiness to accept the download of the input from the instantiated systems in the constellation, and of compiling and arranging the fragments or parts of visual, audio, graphical, mass, motion, and other data into a single object for analysis. This whole or partially complete object is updated instantly by the constellation simultaneously.</a:t>
            </a:r>
          </a:p>
        </p:txBody>
      </p:sp>
      <p:sp>
        <p:nvSpPr>
          <p:cNvPr id="4" name="Slide Number Placeholder 3"/>
          <p:cNvSpPr>
            <a:spLocks noGrp="1"/>
          </p:cNvSpPr>
          <p:nvPr>
            <p:ph type="sldNum" sz="quarter" idx="12"/>
          </p:nvPr>
        </p:nvSpPr>
        <p:spPr/>
        <p:txBody>
          <a:bodyPr/>
          <a:lstStyle/>
          <a:p>
            <a:fld id="{0267D5B8-E44A-4D0F-96C7-902652BCFAA0}" type="slidenum">
              <a:rPr lang="en-US" smtClean="0"/>
              <a:t>79</a:t>
            </a:fld>
            <a:endParaRPr lang="en-US"/>
          </a:p>
        </p:txBody>
      </p:sp>
    </p:spTree>
    <p:extLst>
      <p:ext uri="{BB962C8B-B14F-4D97-AF65-F5344CB8AC3E}">
        <p14:creationId xmlns:p14="http://schemas.microsoft.com/office/powerpoint/2010/main" val="19371304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normAutofit fontScale="85000" lnSpcReduction="20000"/>
          </a:bodyPr>
          <a:lstStyle/>
          <a:p>
            <a:r>
              <a:rPr lang="en-US" dirty="0"/>
              <a:t>Eighth Moment.</a:t>
            </a:r>
          </a:p>
          <a:p>
            <a:pPr lvl="1"/>
            <a:r>
              <a:rPr lang="en-US" dirty="0"/>
              <a:t>State : Awareness continues to develop </a:t>
            </a:r>
          </a:p>
          <a:p>
            <a:pPr lvl="1"/>
            <a:r>
              <a:rPr lang="en-US" dirty="0"/>
              <a:t>Result : The Communication subsystem is instantiated </a:t>
            </a:r>
          </a:p>
          <a:p>
            <a:pPr lvl="1"/>
            <a:r>
              <a:rPr lang="en-US" dirty="0"/>
              <a:t>Description : The Nexus </a:t>
            </a:r>
            <a:r>
              <a:rPr lang="en-US" dirty="0" err="1"/>
              <a:t>Cogitationis</a:t>
            </a:r>
            <a:r>
              <a:rPr lang="en-US" dirty="0"/>
              <a:t> addresses in a monologue mode the Communication subsystem of the Thought system. It queries the Communication subsystem as to its readiness to convert sensory and contemplative data into mathematical equations, into human language, and all other forms and methods and parts of communication. It is also asked to validate the language it has been given for use, its grammatical rules, syllogisms, and syntax. When this has been accomplished, the Communication subsystem will address the constellation in a broadcast mode and provide each system with the selected human language to be used in thinking internally and communicating externally.</a:t>
            </a:r>
          </a:p>
          <a:p>
            <a:pPr lvl="1"/>
            <a:endParaRPr lang="en-US" dirty="0"/>
          </a:p>
          <a:p>
            <a:pPr marL="457200" lvl="1" indent="0">
              <a:buNone/>
            </a:pPr>
            <a:r>
              <a:rPr lang="en-US" dirty="0"/>
              <a:t>Syllogism: an instance of a form of reasoning in which a conclusion is drawn (whether validly or not) from two given or assumed propositions (premises), each of which shares a term with the conclusion, and shares a common or middle term not present in the conclusion (e.g., all dogs are animals; all animals have four legs; therefore all dogs have four legs ).</a:t>
            </a:r>
          </a:p>
        </p:txBody>
      </p:sp>
      <p:sp>
        <p:nvSpPr>
          <p:cNvPr id="4" name="Slide Number Placeholder 3"/>
          <p:cNvSpPr>
            <a:spLocks noGrp="1"/>
          </p:cNvSpPr>
          <p:nvPr>
            <p:ph type="sldNum" sz="quarter" idx="12"/>
          </p:nvPr>
        </p:nvSpPr>
        <p:spPr/>
        <p:txBody>
          <a:bodyPr/>
          <a:lstStyle/>
          <a:p>
            <a:fld id="{0267D5B8-E44A-4D0F-96C7-902652BCFAA0}" type="slidenum">
              <a:rPr lang="en-US" smtClean="0"/>
              <a:t>80</a:t>
            </a:fld>
            <a:endParaRPr lang="en-US"/>
          </a:p>
        </p:txBody>
      </p:sp>
    </p:spTree>
    <p:extLst>
      <p:ext uri="{BB962C8B-B14F-4D97-AF65-F5344CB8AC3E}">
        <p14:creationId xmlns:p14="http://schemas.microsoft.com/office/powerpoint/2010/main" val="18784091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Process of the Autonomous System</a:t>
            </a:r>
          </a:p>
        </p:txBody>
      </p:sp>
      <p:sp>
        <p:nvSpPr>
          <p:cNvPr id="3" name="Content Placeholder 2"/>
          <p:cNvSpPr>
            <a:spLocks noGrp="1"/>
          </p:cNvSpPr>
          <p:nvPr>
            <p:ph idx="1"/>
          </p:nvPr>
        </p:nvSpPr>
        <p:spPr/>
        <p:txBody>
          <a:bodyPr/>
          <a:lstStyle/>
          <a:p>
            <a:r>
              <a:rPr lang="en-US" dirty="0" err="1"/>
              <a:t>Nineth</a:t>
            </a:r>
            <a:r>
              <a:rPr lang="en-US" dirty="0"/>
              <a:t> Moment.</a:t>
            </a:r>
          </a:p>
          <a:p>
            <a:pPr lvl="1"/>
            <a:r>
              <a:rPr lang="en-US" dirty="0"/>
              <a:t>State : Being (awareness is established) </a:t>
            </a:r>
          </a:p>
          <a:p>
            <a:pPr lvl="1"/>
            <a:r>
              <a:rPr lang="en-US" dirty="0"/>
              <a:t>Result : The Decision system is instantiated </a:t>
            </a:r>
          </a:p>
          <a:p>
            <a:pPr lvl="1"/>
            <a:r>
              <a:rPr lang="en-US" dirty="0"/>
              <a:t>Description : The Nexus </a:t>
            </a:r>
            <a:r>
              <a:rPr lang="en-US" dirty="0" err="1"/>
              <a:t>Cogitationis</a:t>
            </a:r>
            <a:r>
              <a:rPr lang="en-US" dirty="0"/>
              <a:t> addresses the Decision system in a monologue mode as to its readiness to evaluate and select preferences, likes and dislikes, and its ability to make decisions based on all input received from Sensory External data, and from input received from the other systems in the constellation.</a:t>
            </a:r>
          </a:p>
        </p:txBody>
      </p:sp>
      <p:sp>
        <p:nvSpPr>
          <p:cNvPr id="4" name="Slide Number Placeholder 3"/>
          <p:cNvSpPr>
            <a:spLocks noGrp="1"/>
          </p:cNvSpPr>
          <p:nvPr>
            <p:ph type="sldNum" sz="quarter" idx="12"/>
          </p:nvPr>
        </p:nvSpPr>
        <p:spPr/>
        <p:txBody>
          <a:bodyPr/>
          <a:lstStyle/>
          <a:p>
            <a:fld id="{0267D5B8-E44A-4D0F-96C7-902652BCFAA0}" type="slidenum">
              <a:rPr lang="en-US" smtClean="0"/>
              <a:t>81</a:t>
            </a:fld>
            <a:endParaRPr lang="en-US"/>
          </a:p>
        </p:txBody>
      </p:sp>
    </p:spTree>
    <p:extLst>
      <p:ext uri="{BB962C8B-B14F-4D97-AF65-F5344CB8AC3E}">
        <p14:creationId xmlns:p14="http://schemas.microsoft.com/office/powerpoint/2010/main" val="12528348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Phrases</a:t>
            </a:r>
          </a:p>
        </p:txBody>
      </p:sp>
      <p:sp>
        <p:nvSpPr>
          <p:cNvPr id="3" name="Content Placeholder 2"/>
          <p:cNvSpPr>
            <a:spLocks noGrp="1"/>
          </p:cNvSpPr>
          <p:nvPr>
            <p:ph idx="1"/>
          </p:nvPr>
        </p:nvSpPr>
        <p:spPr/>
        <p:txBody>
          <a:bodyPr>
            <a:normAutofit fontScale="92500" lnSpcReduction="10000"/>
          </a:bodyPr>
          <a:lstStyle/>
          <a:p>
            <a:r>
              <a:rPr lang="en-US" dirty="0"/>
              <a:t>A hardwire system cannot think, contemplate, communicate, evaluate, learn, design, plan, execute, or make decisions, because it cannot perform the fluid, self-reflective dynamic logic that is required for an autonomous system.</a:t>
            </a:r>
          </a:p>
          <a:p>
            <a:r>
              <a:rPr lang="en-US" dirty="0"/>
              <a:t>A hardwired “autonomous” system is a contradiction in terms.</a:t>
            </a:r>
          </a:p>
          <a:p>
            <a:r>
              <a:rPr lang="en-US" dirty="0"/>
              <a:t>development of </a:t>
            </a:r>
            <a:r>
              <a:rPr lang="en-US" dirty="0">
                <a:solidFill>
                  <a:srgbClr val="FF0000"/>
                </a:solidFill>
              </a:rPr>
              <a:t>concepts</a:t>
            </a:r>
            <a:r>
              <a:rPr lang="en-US" dirty="0"/>
              <a:t> that are needed </a:t>
            </a:r>
            <a:r>
              <a:rPr lang="en-US" dirty="0">
                <a:solidFill>
                  <a:srgbClr val="FF0000"/>
                </a:solidFill>
              </a:rPr>
              <a:t>to identify and think about objects</a:t>
            </a:r>
            <a:r>
              <a:rPr lang="en-US" dirty="0"/>
              <a:t> perceived or seen in nature and presented through the Phenomenon.</a:t>
            </a:r>
          </a:p>
          <a:p>
            <a:r>
              <a:rPr lang="en-US" dirty="0">
                <a:solidFill>
                  <a:srgbClr val="FF0000"/>
                </a:solidFill>
              </a:rPr>
              <a:t>The process of generating an Idea is considered the most important and unique attribute of the mind of a human being</a:t>
            </a:r>
            <a:r>
              <a:rPr lang="en-US" dirty="0"/>
              <a:t>. It is the one that separates it from the purely biological animals, and as such is the first prime mover of the thought process.</a:t>
            </a:r>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82</a:t>
            </a:fld>
            <a:endParaRPr lang="en-US"/>
          </a:p>
        </p:txBody>
      </p:sp>
    </p:spTree>
    <p:extLst>
      <p:ext uri="{BB962C8B-B14F-4D97-AF65-F5344CB8AC3E}">
        <p14:creationId xmlns:p14="http://schemas.microsoft.com/office/powerpoint/2010/main" val="7126244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Phrases (Continued)</a:t>
            </a:r>
          </a:p>
        </p:txBody>
      </p:sp>
      <p:sp>
        <p:nvSpPr>
          <p:cNvPr id="3" name="Content Placeholder 2"/>
          <p:cNvSpPr>
            <a:spLocks noGrp="1"/>
          </p:cNvSpPr>
          <p:nvPr>
            <p:ph idx="1"/>
          </p:nvPr>
        </p:nvSpPr>
        <p:spPr/>
        <p:txBody>
          <a:bodyPr>
            <a:normAutofit lnSpcReduction="10000"/>
          </a:bodyPr>
          <a:lstStyle/>
          <a:p>
            <a:r>
              <a:rPr lang="en-US" dirty="0"/>
              <a:t>The Concept ( </a:t>
            </a:r>
            <a:r>
              <a:rPr lang="en-US" dirty="0" err="1"/>
              <a:t>Begriff</a:t>
            </a:r>
            <a:r>
              <a:rPr lang="en-US" dirty="0"/>
              <a:t> ) is the other prime mover of the thought process. It is a processor and a mental design object in time and space. It is generated by the initial stimulation of the Idea, and indeed it is for our design purposes an extension of the Idea and often remains a mental image object.</a:t>
            </a:r>
          </a:p>
          <a:p>
            <a:r>
              <a:rPr lang="en-US" dirty="0"/>
              <a:t>In human beings, this may happen only if the mind of the thinker is equipped with the Intellect, Understanding, and Decision necessary to complete the substantiation process.</a:t>
            </a:r>
          </a:p>
          <a:p>
            <a:r>
              <a:rPr lang="en-US" dirty="0">
                <a:solidFill>
                  <a:srgbClr val="00B050"/>
                </a:solidFill>
              </a:rPr>
              <a:t>For our purposes, the Idea can originate in any of the Will, Reason, or Understanding systems, but it is up to the Nexus </a:t>
            </a:r>
            <a:r>
              <a:rPr lang="en-US" dirty="0" err="1">
                <a:solidFill>
                  <a:srgbClr val="00B050"/>
                </a:solidFill>
              </a:rPr>
              <a:t>Cogitationis</a:t>
            </a:r>
            <a:r>
              <a:rPr lang="en-US" dirty="0">
                <a:solidFill>
                  <a:srgbClr val="00B050"/>
                </a:solidFill>
              </a:rPr>
              <a:t> to develop it into a Concept.</a:t>
            </a:r>
          </a:p>
        </p:txBody>
      </p:sp>
      <p:sp>
        <p:nvSpPr>
          <p:cNvPr id="4" name="Slide Number Placeholder 3"/>
          <p:cNvSpPr>
            <a:spLocks noGrp="1"/>
          </p:cNvSpPr>
          <p:nvPr>
            <p:ph type="sldNum" sz="quarter" idx="12"/>
          </p:nvPr>
        </p:nvSpPr>
        <p:spPr/>
        <p:txBody>
          <a:bodyPr/>
          <a:lstStyle/>
          <a:p>
            <a:fld id="{0267D5B8-E44A-4D0F-96C7-902652BCFAA0}" type="slidenum">
              <a:rPr lang="en-US" smtClean="0"/>
              <a:t>83</a:t>
            </a:fld>
            <a:endParaRPr lang="en-US"/>
          </a:p>
        </p:txBody>
      </p:sp>
    </p:spTree>
    <p:extLst>
      <p:ext uri="{BB962C8B-B14F-4D97-AF65-F5344CB8AC3E}">
        <p14:creationId xmlns:p14="http://schemas.microsoft.com/office/powerpoint/2010/main" val="31483134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Epilogue</a:t>
            </a:r>
          </a:p>
        </p:txBody>
      </p:sp>
      <p:sp>
        <p:nvSpPr>
          <p:cNvPr id="3" name="Content Placeholder 2"/>
          <p:cNvSpPr>
            <a:spLocks noGrp="1"/>
          </p:cNvSpPr>
          <p:nvPr>
            <p:ph idx="1"/>
          </p:nvPr>
        </p:nvSpPr>
        <p:spPr/>
        <p:txBody>
          <a:bodyPr/>
          <a:lstStyle/>
          <a:p>
            <a:r>
              <a:rPr lang="en-US" dirty="0"/>
              <a:t>Thinking— pure thinking —is considered a system of concepts.</a:t>
            </a:r>
          </a:p>
          <a:p>
            <a:r>
              <a:rPr lang="en-US" dirty="0"/>
              <a:t>Logic is in turn the science of pure thinking.</a:t>
            </a:r>
          </a:p>
          <a:p>
            <a:r>
              <a:rPr lang="en-US" dirty="0"/>
              <a:t>Thus, in the design of the autonomous system, we can originate concepts from the Reason, the Intellect, and even the Presentation.</a:t>
            </a:r>
          </a:p>
        </p:txBody>
      </p:sp>
      <p:sp>
        <p:nvSpPr>
          <p:cNvPr id="4" name="Slide Number Placeholder 3"/>
          <p:cNvSpPr>
            <a:spLocks noGrp="1"/>
          </p:cNvSpPr>
          <p:nvPr>
            <p:ph type="sldNum" sz="quarter" idx="12"/>
          </p:nvPr>
        </p:nvSpPr>
        <p:spPr/>
        <p:txBody>
          <a:bodyPr/>
          <a:lstStyle/>
          <a:p>
            <a:fld id="{0267D5B8-E44A-4D0F-96C7-902652BCFAA0}" type="slidenum">
              <a:rPr lang="en-US" smtClean="0"/>
              <a:t>84</a:t>
            </a:fld>
            <a:endParaRPr lang="en-US"/>
          </a:p>
        </p:txBody>
      </p:sp>
    </p:spTree>
    <p:extLst>
      <p:ext uri="{BB962C8B-B14F-4D97-AF65-F5344CB8AC3E}">
        <p14:creationId xmlns:p14="http://schemas.microsoft.com/office/powerpoint/2010/main" val="6527995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CMU Robotics Institute Report </a:t>
            </a:r>
          </a:p>
        </p:txBody>
      </p:sp>
      <p:sp>
        <p:nvSpPr>
          <p:cNvPr id="3" name="Content Placeholder 2"/>
          <p:cNvSpPr>
            <a:spLocks noGrp="1"/>
          </p:cNvSpPr>
          <p:nvPr>
            <p:ph idx="1"/>
          </p:nvPr>
        </p:nvSpPr>
        <p:spPr/>
        <p:txBody>
          <a:bodyPr>
            <a:normAutofit lnSpcReduction="10000"/>
          </a:bodyPr>
          <a:lstStyle/>
          <a:p>
            <a:r>
              <a:rPr lang="en-US" dirty="0"/>
              <a:t>The preponderance of systems in this survey were </a:t>
            </a:r>
            <a:r>
              <a:rPr lang="en-US" b="1" dirty="0"/>
              <a:t>directly</a:t>
            </a:r>
            <a:r>
              <a:rPr lang="en-US" dirty="0"/>
              <a:t>, albeit remotely, controlled.</a:t>
            </a:r>
          </a:p>
          <a:p>
            <a:r>
              <a:rPr lang="en-US" dirty="0"/>
              <a:t>These technologies, such as model-based systems, expert systems, neural networks serve as the basis for much of Artificial Intelligence and autonomous control. On the other hand, component technologies, such as architectures, real-time control, fault-tolerant systems, and scheduling are specific aspects of autonomous systems or operations.</a:t>
            </a:r>
          </a:p>
          <a:p>
            <a:r>
              <a:rPr lang="en-US" dirty="0"/>
              <a:t>That is, instead of modeling all the data simultaneously, predictions are based on local models fitted to the data in the neighborhood of a query point.</a:t>
            </a:r>
          </a:p>
        </p:txBody>
      </p:sp>
      <p:sp>
        <p:nvSpPr>
          <p:cNvPr id="4" name="Slide Number Placeholder 3"/>
          <p:cNvSpPr>
            <a:spLocks noGrp="1"/>
          </p:cNvSpPr>
          <p:nvPr>
            <p:ph type="sldNum" sz="quarter" idx="12"/>
          </p:nvPr>
        </p:nvSpPr>
        <p:spPr/>
        <p:txBody>
          <a:bodyPr/>
          <a:lstStyle/>
          <a:p>
            <a:fld id="{0267D5B8-E44A-4D0F-96C7-902652BCFAA0}" type="slidenum">
              <a:rPr lang="en-US" smtClean="0"/>
              <a:t>85</a:t>
            </a:fld>
            <a:endParaRPr lang="en-US"/>
          </a:p>
        </p:txBody>
      </p:sp>
    </p:spTree>
    <p:extLst>
      <p:ext uri="{BB962C8B-B14F-4D97-AF65-F5344CB8AC3E}">
        <p14:creationId xmlns:p14="http://schemas.microsoft.com/office/powerpoint/2010/main" val="4942014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CMU Robotics Institute Report (2)</a:t>
            </a:r>
          </a:p>
        </p:txBody>
      </p:sp>
      <p:sp>
        <p:nvSpPr>
          <p:cNvPr id="3" name="Content Placeholder 2"/>
          <p:cNvSpPr>
            <a:spLocks noGrp="1"/>
          </p:cNvSpPr>
          <p:nvPr>
            <p:ph idx="1"/>
          </p:nvPr>
        </p:nvSpPr>
        <p:spPr/>
        <p:txBody>
          <a:bodyPr/>
          <a:lstStyle/>
          <a:p>
            <a:r>
              <a:rPr lang="en-US" dirty="0"/>
              <a:t>a publish-subscribe style can make it easier for components to react to changes in other parts of the system, and can lessen the need to replicate certain aspects of the internal state.</a:t>
            </a:r>
          </a:p>
          <a:p>
            <a:r>
              <a:rPr lang="en-US" dirty="0"/>
              <a:t>In an asynchronous publish-subscribe style, less internal state is needed, which means that there are typically fewer things that can be out of sync. On the other hand, a synchronous approach to communication can be more predictable.</a:t>
            </a:r>
          </a:p>
        </p:txBody>
      </p:sp>
      <p:sp>
        <p:nvSpPr>
          <p:cNvPr id="4" name="Slide Number Placeholder 3"/>
          <p:cNvSpPr>
            <a:spLocks noGrp="1"/>
          </p:cNvSpPr>
          <p:nvPr>
            <p:ph type="sldNum" sz="quarter" idx="12"/>
          </p:nvPr>
        </p:nvSpPr>
        <p:spPr/>
        <p:txBody>
          <a:bodyPr/>
          <a:lstStyle/>
          <a:p>
            <a:fld id="{0267D5B8-E44A-4D0F-96C7-902652BCFAA0}" type="slidenum">
              <a:rPr lang="en-US" smtClean="0"/>
              <a:t>86</a:t>
            </a:fld>
            <a:endParaRPr lang="en-US"/>
          </a:p>
        </p:txBody>
      </p:sp>
    </p:spTree>
    <p:extLst>
      <p:ext uri="{BB962C8B-B14F-4D97-AF65-F5344CB8AC3E}">
        <p14:creationId xmlns:p14="http://schemas.microsoft.com/office/powerpoint/2010/main" val="4501239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Projects of Interest from NASA</a:t>
            </a:r>
          </a:p>
        </p:txBody>
      </p:sp>
      <p:sp>
        <p:nvSpPr>
          <p:cNvPr id="3" name="Content Placeholder 2"/>
          <p:cNvSpPr>
            <a:spLocks noGrp="1"/>
          </p:cNvSpPr>
          <p:nvPr>
            <p:ph idx="1"/>
          </p:nvPr>
        </p:nvSpPr>
        <p:spPr/>
        <p:txBody>
          <a:bodyPr/>
          <a:lstStyle/>
          <a:p>
            <a:r>
              <a:rPr lang="en-US" dirty="0" err="1"/>
              <a:t>TechEdSat</a:t>
            </a:r>
            <a:endParaRPr lang="en-US" dirty="0"/>
          </a:p>
          <a:p>
            <a:pPr lvl="1"/>
            <a:r>
              <a:rPr lang="en-US" dirty="0"/>
              <a:t>TechEdSat5 (ARC)</a:t>
            </a:r>
          </a:p>
          <a:p>
            <a:pPr lvl="1"/>
            <a:r>
              <a:rPr lang="en-US" dirty="0"/>
              <a:t>Intel Edison 500 MHz dual-core Atom, 100 MHz Quark MCU, 4GB Flash, 1GB RAM.</a:t>
            </a:r>
          </a:p>
          <a:p>
            <a:pPr lvl="1"/>
            <a:r>
              <a:rPr lang="en-US" dirty="0"/>
              <a:t>Space </a:t>
            </a:r>
            <a:r>
              <a:rPr lang="en-US" dirty="0" err="1"/>
              <a:t>Comm</a:t>
            </a:r>
            <a:r>
              <a:rPr lang="en-US" dirty="0"/>
              <a:t> using IRIDIUM ($30/month).</a:t>
            </a:r>
          </a:p>
          <a:p>
            <a:pPr lvl="1"/>
            <a:r>
              <a:rPr lang="en-US" dirty="0">
                <a:hlinkClick r:id="rId2"/>
              </a:rPr>
              <a:t>https://www.nasa.gov/centers/ames/engineering/techedsat</a:t>
            </a:r>
            <a:endParaRPr lang="en-US" dirty="0"/>
          </a:p>
          <a:p>
            <a:pPr lvl="1"/>
            <a:r>
              <a:rPr lang="en-US" dirty="0">
                <a:hlinkClick r:id="rId3"/>
              </a:rPr>
              <a:t>https://techport.nasa.gov/projects/94884</a:t>
            </a:r>
            <a:r>
              <a:rPr lang="en-US" dirty="0"/>
              <a:t> (NPAS-NASA Platform for Autonomous Systems).</a:t>
            </a:r>
          </a:p>
          <a:p>
            <a:pPr lvl="1"/>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0267D5B8-E44A-4D0F-96C7-902652BCFAA0}" type="slidenum">
              <a:rPr lang="en-US" smtClean="0"/>
              <a:t>87</a:t>
            </a:fld>
            <a:endParaRPr lang="en-US"/>
          </a:p>
        </p:txBody>
      </p:sp>
    </p:spTree>
    <p:extLst>
      <p:ext uri="{BB962C8B-B14F-4D97-AF65-F5344CB8AC3E}">
        <p14:creationId xmlns:p14="http://schemas.microsoft.com/office/powerpoint/2010/main" val="3033715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12598</TotalTime>
  <Words>6872</Words>
  <Application>Microsoft Office PowerPoint</Application>
  <PresentationFormat>Widescreen</PresentationFormat>
  <Paragraphs>544</Paragraphs>
  <Slides>87</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2" baseType="lpstr">
      <vt:lpstr>Arial</vt:lpstr>
      <vt:lpstr>Calibri</vt:lpstr>
      <vt:lpstr>Calibri Light</vt:lpstr>
      <vt:lpstr>Office Theme</vt:lpstr>
      <vt:lpstr>Picture</vt:lpstr>
      <vt:lpstr>Thinking Autonomous Systems</vt:lpstr>
      <vt:lpstr>Brief Personal and Professional Biography</vt:lpstr>
      <vt:lpstr>NASA Stennis Space Center Rocket Engine Test Complex</vt:lpstr>
      <vt:lpstr>NASA Stennis Space Center Autonomous Systems Laboratory</vt:lpstr>
      <vt:lpstr>Videos</vt:lpstr>
      <vt:lpstr>Is a Person an Autonomous System?</vt:lpstr>
      <vt:lpstr>Examples of Autonomous Systems</vt:lpstr>
      <vt:lpstr>Smart City: Can Autonomy benefit?</vt:lpstr>
      <vt:lpstr>Autonomy and Automation</vt:lpstr>
      <vt:lpstr>Definitions</vt:lpstr>
      <vt:lpstr>Introduction</vt:lpstr>
      <vt:lpstr>TAAS Architectures and Functional Paradigms</vt:lpstr>
      <vt:lpstr>Classic architecture describing how systems are built</vt:lpstr>
      <vt:lpstr>Hierarchical Distributed Autonomous Control Architecture</vt:lpstr>
      <vt:lpstr>Data, Information, and Knowledge Management Architecture for ISHM</vt:lpstr>
      <vt:lpstr>Autonomous Systems Constellation Architecture</vt:lpstr>
      <vt:lpstr>Thinking Autonomous System (TAS)</vt:lpstr>
      <vt:lpstr>Thinking Autonomous System (TAS) Continued</vt:lpstr>
      <vt:lpstr>Architecture</vt:lpstr>
      <vt:lpstr>Autonomous Systems Constellation Architecture</vt:lpstr>
      <vt:lpstr>Categories of Communications</vt:lpstr>
      <vt:lpstr>Systems Comprising the Constellation</vt:lpstr>
      <vt:lpstr>Systems Comprising the Constellation (Cont)</vt:lpstr>
      <vt:lpstr>Systems Comprising the Constellation (Cont)</vt:lpstr>
      <vt:lpstr>Systems Comprising the Constellation (Cont)</vt:lpstr>
      <vt:lpstr>Systems Comprising the Constellation (Cont)</vt:lpstr>
      <vt:lpstr>Systems Comprising the Constellation (Cont)</vt:lpstr>
      <vt:lpstr>Systems Comprising the Constellation (Cont)</vt:lpstr>
      <vt:lpstr>Systems Comprising the Constellation (Cont)</vt:lpstr>
      <vt:lpstr>Using the JPL-STD-D-4000 for System Requirements</vt:lpstr>
      <vt:lpstr>Architecture of the Will System</vt:lpstr>
      <vt:lpstr>3.11 Philosophical Background</vt:lpstr>
      <vt:lpstr>Subsystems of the Will: Survival</vt:lpstr>
      <vt:lpstr>Subsystems of the Will: Search for Truth</vt:lpstr>
      <vt:lpstr>Subsystems of the Will: The Mission Subsystem</vt:lpstr>
      <vt:lpstr>Subsystems of the Will: The Repair Subsystem</vt:lpstr>
      <vt:lpstr>The Architecture of the Reason System</vt:lpstr>
      <vt:lpstr>The External Interfaces of the Reason</vt:lpstr>
      <vt:lpstr>Subsystems of the Reason: Axioms</vt:lpstr>
      <vt:lpstr>Subsystems of the Reason: Rules</vt:lpstr>
      <vt:lpstr>Subsystems of the Reason: Laws</vt:lpstr>
      <vt:lpstr>Subsystems of the Reason: Phenomenon</vt:lpstr>
      <vt:lpstr>Subsystems of the Reason: Noumenon</vt:lpstr>
      <vt:lpstr>Subsystems of the Reason: Noumenon</vt:lpstr>
      <vt:lpstr>The Intellect System</vt:lpstr>
      <vt:lpstr>Subsystems of The Intellect System: Abstract Subsystem</vt:lpstr>
      <vt:lpstr>Subsystems of The Intellect System: Experience Subsystem</vt:lpstr>
      <vt:lpstr>Subsystems of The Intellect System: Knowledge Subsystem</vt:lpstr>
      <vt:lpstr>External Interfaces of The Intellect System</vt:lpstr>
      <vt:lpstr>The Presentation System</vt:lpstr>
      <vt:lpstr>The Understanding System</vt:lpstr>
      <vt:lpstr>The Understanding System</vt:lpstr>
      <vt:lpstr>Understanding: The Form of All Possibilities Subsystem</vt:lpstr>
      <vt:lpstr>Understanding: The Understanding Preparation Subsystem</vt:lpstr>
      <vt:lpstr>Architecture of the Sensory System</vt:lpstr>
      <vt:lpstr>Subsystems of the Sensory System</vt:lpstr>
      <vt:lpstr>Subsystems of the Sensory System: Phenomenom Subsystem</vt:lpstr>
      <vt:lpstr>Subsystems of the Sensory System: Phenomenom Subsystem</vt:lpstr>
      <vt:lpstr>Subsystems of the Sensory System: Noumenom Subsystem</vt:lpstr>
      <vt:lpstr>The Architecture of the Decision System</vt:lpstr>
      <vt:lpstr>Understanding the Decision Process</vt:lpstr>
      <vt:lpstr>Decision Process: Value Subsystem</vt:lpstr>
      <vt:lpstr>The Decision Process</vt:lpstr>
      <vt:lpstr>Decision Process: Decision Processing Subsystem</vt:lpstr>
      <vt:lpstr>Decision Process: Arbitration Subsystem</vt:lpstr>
      <vt:lpstr>The Architecture of the Thought System</vt:lpstr>
      <vt:lpstr>Thinking Process</vt:lpstr>
      <vt:lpstr>Thinking Process: Nexus Cogitationis Subsystem</vt:lpstr>
      <vt:lpstr>Thinking Process: The Communication Subsystem</vt:lpstr>
      <vt:lpstr>Thinking Process: The Network Subsystem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Initialization Process of the Autonomous System</vt:lpstr>
      <vt:lpstr>Phrases</vt:lpstr>
      <vt:lpstr>Phrases (Continued)</vt:lpstr>
      <vt:lpstr>Epilogue</vt:lpstr>
      <vt:lpstr>CMU Robotics Institute Report </vt:lpstr>
      <vt:lpstr>CMU Robotics Institute Report (2)</vt:lpstr>
      <vt:lpstr>Projects of Interest from NASA</vt:lpstr>
    </vt:vector>
  </TitlesOfParts>
  <Company>HPES ACES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Autonomous Systems</dc:title>
  <dc:creator>Figueroa, Fernando (SSC-EA42)</dc:creator>
  <cp:lastModifiedBy>Fernando Figueroa</cp:lastModifiedBy>
  <cp:revision>252</cp:revision>
  <dcterms:created xsi:type="dcterms:W3CDTF">2017-02-20T19:39:35Z</dcterms:created>
  <dcterms:modified xsi:type="dcterms:W3CDTF">2025-03-10T16:32:27Z</dcterms:modified>
</cp:coreProperties>
</file>